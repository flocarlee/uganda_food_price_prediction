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026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D8D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Uganda Retail Food Price Prediction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0"/>
          </a:solidFill>
          <a:ln w="12700">
            <a:solidFill>
              <a:srgbClr val="F8F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4B3A"/>
          </a:solidFill>
          <a:ln w="12700">
            <a:solidFill>
              <a:srgbClr val="0F4B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Predicting Retail Food Prices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Ugandan Markets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4871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WFP market price data to forecast next-month retail food prices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926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Engineering &amp; Analytics Final 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Florence Kemigisha  •  13 August 2026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58200" y="1051560"/>
            <a:ext cx="2971800" cy="4526280"/>
          </a:xfrm>
          <a:prstGeom prst="roundRect">
            <a:avLst>
              <a:gd name="adj" fmla="val 2462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22792" y="11795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at a glance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22792" y="1490472"/>
            <a:ext cx="2651760" cy="3977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model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food prices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 markets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 commodities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2006 – Jun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model: Random Forest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3794760"/>
            <a:ext cx="2834640" cy="0"/>
          </a:xfrm>
          <a:prstGeom prst="line">
            <a:avLst/>
          </a:prstGeom>
          <a:noFill/>
          <a:ln w="25400">
            <a:solidFill>
              <a:srgbClr val="D79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98678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GitHub: github.com/floCarlee/Uganda_Food_Price_Prediction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problem matters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453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56232"/>
            <a:ext cx="484632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food prices in Uganda change over time because of market conditions, seasonality, inflation, supply factors and location differences.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changes affect household purchasing power, food security and planning decisions.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2512" y="15453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82512" y="1856232"/>
            <a:ext cx="484632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machine learning regression model that predicts the next month retail price of  food commodity in the Ugandan market.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model uses commodity, market, location, time and historical price features.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6089904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Framed as a regression task: predicting a numerical target variable, next_month_price.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description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618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World Food Programme (WFP) Uganda Food Prices / HDX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used: wfp_food_prices_uga.csv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20848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32,171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24140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rows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5146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87752" y="20848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87752" y="24140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columns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3434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16552" y="20848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16552" y="24140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1722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45352" y="20848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45352" y="24140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commodities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0010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74152" y="20848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2006–2026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74152" y="24140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8298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02952" y="20848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UGX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902952" y="24140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currency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13232" y="32461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7824" y="33741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fields used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7824" y="3685032"/>
            <a:ext cx="49377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date, region, district, market, latitude, longitude, category, commodity, unit, price type, currency, price and USD price.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99632" y="32461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EFE9DC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64224" y="33741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preparation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64224" y="3685032"/>
            <a:ext cx="49377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modelling dataset contains 20,872 rows and 21 columns after filtering retail food records and creating lag, moving-average and target features.</a:t>
            </a:r>
            <a:endParaRPr lang="en-US" sz="12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engineering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EFE9DC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CSV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58368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WFP file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1947672" y="2221992"/>
            <a:ext cx="146304" cy="310896"/>
          </a:xfrm>
          <a:prstGeom prst="chevron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21992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understanding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2240280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shape, types, missing values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3529584" y="2221992"/>
            <a:ext cx="146304" cy="310896"/>
          </a:xfrm>
          <a:prstGeom prst="chevron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0752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3904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&amp; filtering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3822192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food records only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111496" y="2221992"/>
            <a:ext cx="146304" cy="310896"/>
          </a:xfrm>
          <a:prstGeom prst="chevron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2664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85816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5404104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lags + moving averages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693408" y="2221992"/>
            <a:ext cx="146304" cy="310896"/>
          </a:xfrm>
          <a:prstGeom prst="chevron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94576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67728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&amp; visualization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986016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 and relationships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8275320" y="2221992"/>
            <a:ext cx="146304" cy="310896"/>
          </a:xfrm>
          <a:prstGeom prst="chevron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76488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49640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training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567928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baseline, RF, neural net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9857232" y="2221992"/>
            <a:ext cx="146304" cy="310896"/>
          </a:xfrm>
          <a:prstGeom prst="chevron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0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131552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&amp; demo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10149840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+ Gradio app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932688" y="3840480"/>
            <a:ext cx="10287000" cy="1051560"/>
          </a:xfrm>
          <a:prstGeom prst="roundRect">
            <a:avLst>
              <a:gd name="adj" fmla="val 6957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97280" y="39684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this a data engineering project?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279392"/>
            <a:ext cx="99669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is not only model training. It includes data ingestion, quality checks, filtering, feature engineering, train-test preparation, model packaging and a demo interface.</a:t>
            </a:r>
            <a:endParaRPr lang="en-US" sz="122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and feature engineering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813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decisions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792224"/>
            <a:ext cx="3063240" cy="3749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Converted date to datetime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Converted prices to numeric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Removed non-food items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Kept retail prices only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Checked duplicates and invalid prices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Removed rows with missing lag/target values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407408" y="1353312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4813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features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1792224"/>
            <a:ext cx="3063240" cy="3749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year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month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quarter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previous_price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price_change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price_pct_change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price_3_month_avg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price_6_month_avg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156448" y="1353312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EFE9DC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14813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variable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1792224"/>
            <a:ext cx="3063240" cy="3749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next_month_price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next recorded retail price for the same commodity in the same market.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turns the dataset into a supervised regression problem.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data analysis: distribution and coverage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pic>
        <p:nvPicPr>
          <p:cNvPr id="5" name="Image 0" descr="/mnt/data/pptx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21" y="1298448"/>
            <a:ext cx="4981543" cy="2971800"/>
          </a:xfrm>
          <a:prstGeom prst="rect">
            <a:avLst/>
          </a:prstGeom>
        </p:spPr>
      </p:pic>
      <p:pic>
        <p:nvPicPr>
          <p:cNvPr id="6" name="Image 1" descr="/mnt/data/pptx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337" y="1298448"/>
            <a:ext cx="4981543" cy="2971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9808" y="4617720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914400" y="47457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Price distribution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14400" y="5056632"/>
            <a:ext cx="46634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retail food prices are concentrated at lower values, with a few high-price outliers.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382512" y="4617720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547104" y="47457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Commodity coverage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547104" y="5056632"/>
            <a:ext cx="46634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Maize flour, maize, beans, vegetable oil and sorghum have the most records, giving the model strong historical coverage.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Average retail food price trend over time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pic>
        <p:nvPicPr>
          <p:cNvPr id="5" name="Image 0" descr="/mnt/data/pptx_extract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01" y="1280160"/>
            <a:ext cx="7653838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89660" y="5312664"/>
            <a:ext cx="10012680" cy="758531"/>
          </a:xfrm>
          <a:prstGeom prst="roundRect">
            <a:avLst>
              <a:gd name="adj" fmla="val 10667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261872" y="538581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61872" y="5696712"/>
            <a:ext cx="96926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retail food prices generally rise over the period, with visible dips and spikes that may reflect seasonality, market shocks or changes in food supply conditions.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SIGNAL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Relationship with the prediction target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pic>
        <p:nvPicPr>
          <p:cNvPr id="5" name="Image 0" descr="/mnt/data/pptx_extract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80281"/>
            <a:ext cx="5486400" cy="40974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463040"/>
            <a:ext cx="4617720" cy="1325880"/>
          </a:xfrm>
          <a:prstGeom prst="roundRect">
            <a:avLst>
              <a:gd name="adj" fmla="val 5517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93992" y="15910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regression is feasible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93992" y="1901952"/>
            <a:ext cx="42976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scatter plot shows a strong positive relationship between current price and next month price.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629400" y="3063240"/>
            <a:ext cx="4617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93992" y="3191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Modelling implication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93992" y="3502152"/>
            <a:ext cx="42976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price features such as current price, previous price and moving averages should be useful predictors.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6629400" y="4846320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EFE9DC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793992" y="5102352"/>
            <a:ext cx="4297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Extreme points indicate that sudden price spikes may still be difficult to predict.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models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6304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910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901952"/>
            <a:ext cx="30632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month price = current price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as a benchmark to test whether machine learning adds value.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46304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5910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Regressor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901952"/>
            <a:ext cx="30632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ML model.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non-linear patterns and mixed features well after preprocessing.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65008" y="146304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EFE9DC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15910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Neural Network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1901952"/>
            <a:ext cx="30632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Feedforward regression model.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to satisfy the deep learning comparison requirement.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53035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metrics: MAE, RMSE and R²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evaluation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508760"/>
            <a:ext cx="2377440" cy="438912"/>
          </a:xfrm>
          <a:prstGeom prst="rect">
            <a:avLst/>
          </a:prstGeom>
          <a:solidFill>
            <a:srgbClr val="0F4B3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276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508760"/>
            <a:ext cx="1463040" cy="438912"/>
          </a:xfrm>
          <a:prstGeom prst="rect">
            <a:avLst/>
          </a:prstGeom>
          <a:solidFill>
            <a:srgbClr val="0F4B3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276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92040" y="1508760"/>
            <a:ext cx="1645920" cy="438912"/>
          </a:xfrm>
          <a:prstGeom prst="rect">
            <a:avLst/>
          </a:prstGeom>
          <a:solidFill>
            <a:srgbClr val="0F4B3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276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37960" y="1508760"/>
            <a:ext cx="1097280" cy="438912"/>
          </a:xfrm>
          <a:prstGeom prst="rect">
            <a:avLst/>
          </a:prstGeom>
          <a:solidFill>
            <a:srgbClr val="0F4B3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627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51560" y="1947672"/>
            <a:ext cx="23774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0665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29000" y="1947672"/>
            <a:ext cx="14630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0665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557.70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1947672"/>
            <a:ext cx="1645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0665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1975.42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1947672"/>
            <a:ext cx="10972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0665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0.8586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51560" y="2386584"/>
            <a:ext cx="2377440" cy="438912"/>
          </a:xfrm>
          <a:prstGeom prst="rect">
            <a:avLst/>
          </a:prstGeom>
          <a:solidFill>
            <a:srgbClr val="E8F1E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0545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29000" y="2386584"/>
            <a:ext cx="1463040" cy="438912"/>
          </a:xfrm>
          <a:prstGeom prst="rect">
            <a:avLst/>
          </a:prstGeom>
          <a:solidFill>
            <a:srgbClr val="E8F1E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5054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533.20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2386584"/>
            <a:ext cx="1645920" cy="438912"/>
          </a:xfrm>
          <a:prstGeom prst="rect">
            <a:avLst/>
          </a:prstGeom>
          <a:solidFill>
            <a:srgbClr val="E8F1E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5054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1697.70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2386584"/>
            <a:ext cx="1097280" cy="438912"/>
          </a:xfrm>
          <a:prstGeom prst="rect">
            <a:avLst/>
          </a:prstGeom>
          <a:solidFill>
            <a:srgbClr val="E8F1E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5054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0.8955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51560" y="2825496"/>
            <a:ext cx="23774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29443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29000" y="2825496"/>
            <a:ext cx="14630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9443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691.14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92040" y="2825496"/>
            <a:ext cx="1645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9443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1760.43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37960" y="2825496"/>
            <a:ext cx="10972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944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0.8877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458200" y="15087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622792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model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22792" y="1947672"/>
            <a:ext cx="228600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MAE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RMSE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R²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1097280" y="4160520"/>
            <a:ext cx="9966960" cy="960120"/>
          </a:xfrm>
          <a:prstGeom prst="roundRect">
            <a:avLst>
              <a:gd name="adj" fmla="val 7619"/>
            </a:avLst>
          </a:prstGeom>
          <a:solidFill>
            <a:srgbClr val="EFE9DC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261872" y="4288536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261872" y="4599432"/>
            <a:ext cx="96469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Random Forest model outperformed the baseline and neural network. It explained approximately 89.6% of the variation in next-month retail food prices.</a:t>
            </a:r>
            <a:endParaRPr lang="en-US" sz="114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interface and project repository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5577840" cy="4069080"/>
          </a:xfrm>
          <a:prstGeom prst="roundRect">
            <a:avLst>
              <a:gd name="adj" fmla="val 2697"/>
            </a:avLst>
          </a:prstGeom>
          <a:solidFill>
            <a:srgbClr val="101312"/>
          </a:solidFill>
          <a:ln w="12700">
            <a:solidFill>
              <a:srgbClr val="101312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Uganda Retail Food Price Prediction 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1488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Commodity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43000" y="233172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242628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423160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Beans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3081528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242628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3172968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Adjumani (refugee settlement)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1143000" y="36484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Price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43000" y="3831336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242628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3922776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UGX 3,000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1143000" y="43982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Price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43000" y="4581144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242628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467258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UGX 2,800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3931920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Result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31920" y="2395728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4164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Predicted next month retail price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UGX 3,140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931920" y="365760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378561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12280" y="1417320"/>
            <a:ext cx="4343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76872" y="15453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function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76872" y="1856232"/>
            <a:ext cx="40233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lets a user select a commodity and market, enter price values, and receive a next-month retail price prediction.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12280" y="3063240"/>
            <a:ext cx="4343400" cy="1417320"/>
          </a:xfrm>
          <a:prstGeom prst="roundRect">
            <a:avLst>
              <a:gd name="adj" fmla="val 5161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76872" y="31912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76872" y="3502152"/>
            <a:ext cx="40233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github.com/floCarlee/Uganda_Food_Price_Prediction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notebooks, data, model, app, figures and presentation.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6089904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conclusion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453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484632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model does not include external drivers such as rainfall, fuel prices, exchange rates, inflation, transport costs, harvest seasons, conflict or supply disruptions.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factors may explain sudden price movements that the model cannot fully capture.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15453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28232" y="1856232"/>
            <a:ext cx="484632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successfully built an end-to-end ML pipeline for Uganda retail food price prediction.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was selected as the final model with an R² score of 0.8955.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demonstrates cleaning, feature engineering, EDA, modelling, evaluation, GitHub documentation and a working demo.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777240" y="5349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Work: combine price data with weather, fuel, inflation and exchange-rate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968</Words>
  <Application>Microsoft Macintosh PowerPoint</Application>
  <PresentationFormat>Widescreen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Data Engineering and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Retail Food Prices in Ugandan Markets Using WFP Market Price Data</dc:title>
  <dc:subject>Uganda Retail Food Price Prediction</dc:subject>
  <dc:creator>Florence Kemigisha</dc:creator>
  <cp:lastModifiedBy>Flo</cp:lastModifiedBy>
  <cp:revision>6</cp:revision>
  <dcterms:created xsi:type="dcterms:W3CDTF">2026-08-08T09:42:26Z</dcterms:created>
  <dcterms:modified xsi:type="dcterms:W3CDTF">2026-08-08T09:52:10Z</dcterms:modified>
</cp:coreProperties>
</file>