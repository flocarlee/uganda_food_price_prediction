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1" r:id="rId14"/>
    <p:sldId id="267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1026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C62-C96F-220A-CE33-43D3595A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636DB1-8904-573A-5F67-021BFE232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1C32FF-8F52-72B5-910D-01AED78DDD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2ABF8-46CD-90C0-B61F-4BB2B32543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8325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2700">
            <a:solidFill>
              <a:srgbClr val="D8D0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4652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F6A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Uganda Retail Food Price Prediction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6F0"/>
          </a:solidFill>
          <a:ln w="12700">
            <a:solidFill>
              <a:srgbClr val="F8F6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4B3A"/>
          </a:solidFill>
          <a:ln w="12700">
            <a:solidFill>
              <a:srgbClr val="0F4B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D79A2B"/>
          </a:solidFill>
          <a:ln w="12700">
            <a:solidFill>
              <a:srgbClr val="D79A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3444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Predicting Retail Food Prices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Ugandan Markets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WFP market price data to forecast next-month retail food prices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9260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Engineering &amp; Analytics Final Project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" y="32461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Florence Kemigisha  •  13 August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458200" y="1051560"/>
            <a:ext cx="2971800" cy="4526280"/>
          </a:xfrm>
          <a:prstGeom prst="roundRect">
            <a:avLst>
              <a:gd name="adj" fmla="val 2462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22792" y="11795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at a glance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22792" y="1490472"/>
            <a:ext cx="2651760" cy="3977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model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Retail food prices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 markets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 commodities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 2006 – Jun 2026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model: Random Forest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" y="3794760"/>
            <a:ext cx="2834640" cy="0"/>
          </a:xfrm>
          <a:prstGeom prst="line">
            <a:avLst/>
          </a:prstGeom>
          <a:noFill/>
          <a:ln w="25400">
            <a:solidFill>
              <a:srgbClr val="D79A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986784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GitHub: github.com/floCarlee/Uganda_Food_Price_Prediction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9A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STATEMENT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</a:rPr>
              <a:t>PROBLEM STATEMENT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1732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5453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challenge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856232"/>
            <a:ext cx="4846320" cy="3383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Retail food prices in Uganda change over time because of market conditions, seasonality, inflation, supply factors and location differences.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changes affect household purchasing power, food security and planning decisions.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41732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82512" y="15453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objective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82512" y="1856232"/>
            <a:ext cx="4846320" cy="3383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machine learning regression model that predicts the next month retail price of  food commodity in the Ugandan market.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model uses commodity, market, location, time and historical price features.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6089904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Framed as a regression task: predicting a numerical target variable, next_month_price.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9A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description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618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“https://</a:t>
            </a:r>
            <a:r>
              <a:rPr lang="en-US" sz="1200" dirty="0" err="1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data.humdata.org</a:t>
            </a:r>
            <a:r>
              <a:rPr lang="en-US" sz="12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/dataset/</a:t>
            </a:r>
            <a:r>
              <a:rPr lang="en-US" sz="1200" dirty="0" err="1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wfp</a:t>
            </a:r>
            <a:r>
              <a:rPr lang="en-US" sz="12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-food-prices-for-Uganda”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used: wfp_food_prices_uga.csv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1600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58952" y="2084832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32,171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2414016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rows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514600" y="1965960"/>
            <a:ext cx="1600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87752" y="2084832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587752" y="2414016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columns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43400" y="1965960"/>
            <a:ext cx="1600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16552" y="2084832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16552" y="2414016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markets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172200" y="1965960"/>
            <a:ext cx="1600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45352" y="2084832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45352" y="2414016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commodities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8001000" y="1965960"/>
            <a:ext cx="1600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074152" y="2084832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2006–2026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074152" y="2414016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9829800" y="1965960"/>
            <a:ext cx="1600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902952" y="2084832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UGX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902952" y="2414016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currency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13232" y="3246120"/>
            <a:ext cx="52578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77824" y="33741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Raw fields used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77824" y="3685032"/>
            <a:ext cx="493776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date, region, district, market, latitude, longitude, category, commodity, unit, price type, currency, price and USD price.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99632" y="3246120"/>
            <a:ext cx="5257800" cy="1783080"/>
          </a:xfrm>
          <a:prstGeom prst="roundRect">
            <a:avLst>
              <a:gd name="adj" fmla="val 4103"/>
            </a:avLst>
          </a:prstGeom>
          <a:solidFill>
            <a:srgbClr val="EFE9DC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64224" y="33741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preparation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64224" y="3685032"/>
            <a:ext cx="493776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modelling dataset contains 20,872 rows and 21 columns after filtering retail food records and creating lag, moving-average and target features.</a:t>
            </a:r>
            <a:endParaRPr lang="en-US" sz="125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9A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engineering workflow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28800"/>
            <a:ext cx="1316736" cy="1097280"/>
          </a:xfrm>
          <a:prstGeom prst="roundRect">
            <a:avLst>
              <a:gd name="adj" fmla="val 6667"/>
            </a:avLst>
          </a:prstGeom>
          <a:solidFill>
            <a:srgbClr val="EFE9DC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9933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Raw CSV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58368" y="233172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WFP file</a:t>
            </a:r>
            <a:endParaRPr lang="en-US" sz="870" dirty="0"/>
          </a:p>
        </p:txBody>
      </p:sp>
      <p:sp>
        <p:nvSpPr>
          <p:cNvPr id="8" name="Shape 6"/>
          <p:cNvSpPr/>
          <p:nvPr/>
        </p:nvSpPr>
        <p:spPr>
          <a:xfrm>
            <a:off x="1947672" y="2221992"/>
            <a:ext cx="146304" cy="310896"/>
          </a:xfrm>
          <a:prstGeom prst="chevron">
            <a:avLst/>
          </a:prstGeom>
          <a:solidFill>
            <a:srgbClr val="D79A2B"/>
          </a:solidFill>
          <a:ln w="12700">
            <a:solidFill>
              <a:srgbClr val="D79A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48840" y="1828800"/>
            <a:ext cx="131673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21992" y="19933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understanding</a:t>
            </a:r>
            <a:endParaRPr lang="en-US" sz="1120" dirty="0"/>
          </a:p>
        </p:txBody>
      </p:sp>
      <p:sp>
        <p:nvSpPr>
          <p:cNvPr id="11" name="Text 9"/>
          <p:cNvSpPr/>
          <p:nvPr/>
        </p:nvSpPr>
        <p:spPr>
          <a:xfrm>
            <a:off x="2240280" y="233172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shape, types, missing values</a:t>
            </a:r>
            <a:endParaRPr lang="en-US" sz="870" dirty="0"/>
          </a:p>
        </p:txBody>
      </p:sp>
      <p:sp>
        <p:nvSpPr>
          <p:cNvPr id="12" name="Shape 10"/>
          <p:cNvSpPr/>
          <p:nvPr/>
        </p:nvSpPr>
        <p:spPr>
          <a:xfrm>
            <a:off x="3529584" y="2221992"/>
            <a:ext cx="146304" cy="310896"/>
          </a:xfrm>
          <a:prstGeom prst="chevron">
            <a:avLst/>
          </a:prstGeom>
          <a:solidFill>
            <a:srgbClr val="D79A2B"/>
          </a:solidFill>
          <a:ln w="12700">
            <a:solidFill>
              <a:srgbClr val="D79A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30752" y="1828800"/>
            <a:ext cx="131673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03904" y="19933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Cleaning &amp; filtering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3822192" y="233172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retail food records only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5111496" y="2221992"/>
            <a:ext cx="146304" cy="310896"/>
          </a:xfrm>
          <a:prstGeom prst="chevron">
            <a:avLst/>
          </a:prstGeom>
          <a:solidFill>
            <a:srgbClr val="D79A2B"/>
          </a:solidFill>
          <a:ln w="12700">
            <a:solidFill>
              <a:srgbClr val="D79A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12664" y="1828800"/>
            <a:ext cx="131673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85816" y="19933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engineering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5404104" y="233172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lags + moving averages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6693408" y="2221992"/>
            <a:ext cx="146304" cy="310896"/>
          </a:xfrm>
          <a:prstGeom prst="chevron">
            <a:avLst/>
          </a:prstGeom>
          <a:solidFill>
            <a:srgbClr val="D79A2B"/>
          </a:solidFill>
          <a:ln w="12700">
            <a:solidFill>
              <a:srgbClr val="D79A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94576" y="1828800"/>
            <a:ext cx="131673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967728" y="19933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EDA &amp; visualization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6986016" y="233172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patterns and relationships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8275320" y="2221992"/>
            <a:ext cx="146304" cy="310896"/>
          </a:xfrm>
          <a:prstGeom prst="chevron">
            <a:avLst/>
          </a:prstGeom>
          <a:solidFill>
            <a:srgbClr val="D79A2B"/>
          </a:solidFill>
          <a:ln w="12700">
            <a:solidFill>
              <a:srgbClr val="D79A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76488" y="1828800"/>
            <a:ext cx="131673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49640" y="19933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training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8567928" y="233172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baseline, RF, neural net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9857232" y="2221992"/>
            <a:ext cx="146304" cy="310896"/>
          </a:xfrm>
          <a:prstGeom prst="chevron">
            <a:avLst/>
          </a:prstGeom>
          <a:solidFill>
            <a:srgbClr val="D79A2B"/>
          </a:solidFill>
          <a:ln w="12700">
            <a:solidFill>
              <a:srgbClr val="D79A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0" y="1828800"/>
            <a:ext cx="1316736" cy="1097280"/>
          </a:xfrm>
          <a:prstGeom prst="roundRect">
            <a:avLst>
              <a:gd name="adj" fmla="val 6667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2700" dist="508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131552" y="19933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&amp; demo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10149840" y="233172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6E6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metrics + Gradio app</a:t>
            </a:r>
            <a:endParaRPr lang="en-US" sz="870" dirty="0"/>
          </a:p>
        </p:txBody>
      </p:sp>
      <p:sp>
        <p:nvSpPr>
          <p:cNvPr id="32" name="Shape 30"/>
          <p:cNvSpPr/>
          <p:nvPr/>
        </p:nvSpPr>
        <p:spPr>
          <a:xfrm>
            <a:off x="932688" y="3840480"/>
            <a:ext cx="10287000" cy="1051560"/>
          </a:xfrm>
          <a:prstGeom prst="roundRect">
            <a:avLst>
              <a:gd name="adj" fmla="val 6957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97280" y="3968496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makes this a data engineering project?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97280" y="4279392"/>
            <a:ext cx="99669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 is not only model training. It includes data ingestion, quality checks, filtering, feature engineering, train-test preparation, model packaging and a demo interface.</a:t>
            </a:r>
            <a:endParaRPr lang="en-US" sz="122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01752"/>
            <a:ext cx="4114800" cy="228600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l">
              <a:defRPr sz="1050" b="1">
                <a:solidFill>
                  <a:srgbClr val="D99427"/>
                </a:solidFill>
                <a:latin typeface="Aptos"/>
              </a:defRPr>
            </a:pPr>
            <a:r>
              <a:t>ETL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332720" cy="457200"/>
          </a:xfrm>
          <a:prstGeom prst="rect">
            <a:avLst/>
          </a:prstGeom>
          <a:noFill/>
        </p:spPr>
        <p:txBody>
          <a:bodyPr wrap="square" lIns="18288" rIns="18288">
            <a:normAutofit lnSpcReduction="10000"/>
          </a:bodyPr>
          <a:lstStyle/>
          <a:p>
            <a:pPr algn="l">
              <a:defRPr sz="2500" b="1">
                <a:solidFill>
                  <a:srgbClr val="191B1A"/>
                </a:solidFill>
                <a:latin typeface="Aptos"/>
              </a:defRPr>
            </a:pPr>
            <a:r>
              <a:t>ETL pipeline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69848"/>
            <a:ext cx="914400" cy="32004"/>
          </a:xfrm>
          <a:prstGeom prst="rect">
            <a:avLst/>
          </a:prstGeom>
          <a:solidFill>
            <a:srgbClr val="176B4D"/>
          </a:solidFill>
          <a:ln>
            <a:solidFill>
              <a:srgbClr val="176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188720"/>
            <a:ext cx="10652760" cy="292608"/>
          </a:xfrm>
          <a:prstGeom prst="rect">
            <a:avLst/>
          </a:prstGeom>
          <a:noFill/>
        </p:spPr>
        <p:txBody>
          <a:bodyPr wrap="square" lIns="18288" rIns="18288">
            <a:normAutofit lnSpcReduction="10000"/>
          </a:bodyPr>
          <a:lstStyle/>
          <a:p>
            <a:pPr algn="l">
              <a:defRPr sz="1350" b="0">
                <a:solidFill>
                  <a:srgbClr val="5E6661"/>
                </a:solidFill>
                <a:latin typeface="Aptos"/>
              </a:defRPr>
            </a:pPr>
            <a:r>
              <a:t>How the raw WFP file becomes the ML-ready dataset used by the models and demo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2679192"/>
            <a:ext cx="502920" cy="292608"/>
          </a:xfrm>
          <a:prstGeom prst="rightArrow">
            <a:avLst/>
          </a:prstGeom>
          <a:solidFill>
            <a:srgbClr val="D99427"/>
          </a:solidFill>
          <a:ln>
            <a:solidFill>
              <a:srgbClr val="D9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ight Arrow 7"/>
          <p:cNvSpPr/>
          <p:nvPr/>
        </p:nvSpPr>
        <p:spPr>
          <a:xfrm>
            <a:off x="5394960" y="2679192"/>
            <a:ext cx="502920" cy="292608"/>
          </a:xfrm>
          <a:prstGeom prst="rightArrow">
            <a:avLst/>
          </a:prstGeom>
          <a:solidFill>
            <a:srgbClr val="D99427"/>
          </a:solidFill>
          <a:ln>
            <a:solidFill>
              <a:srgbClr val="D9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8"/>
          <p:cNvSpPr/>
          <p:nvPr/>
        </p:nvSpPr>
        <p:spPr>
          <a:xfrm>
            <a:off x="8001000" y="2679192"/>
            <a:ext cx="502920" cy="292608"/>
          </a:xfrm>
          <a:prstGeom prst="rightArrow">
            <a:avLst/>
          </a:prstGeom>
          <a:solidFill>
            <a:srgbClr val="D99427"/>
          </a:solidFill>
          <a:ln>
            <a:solidFill>
              <a:srgbClr val="D9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8368" y="1755648"/>
            <a:ext cx="2130552" cy="2423160"/>
          </a:xfrm>
          <a:prstGeom prst="roundRect">
            <a:avLst/>
          </a:prstGeom>
          <a:solidFill>
            <a:srgbClr val="F2ECDE"/>
          </a:solidFill>
          <a:ln w="12700">
            <a:solidFill>
              <a:srgbClr val="D8D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956816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normAutofit fontScale="85000" lnSpcReduction="20000"/>
          </a:bodyPr>
          <a:lstStyle/>
          <a:p>
            <a:pPr algn="l">
              <a:defRPr sz="1600" b="1">
                <a:solidFill>
                  <a:srgbClr val="0D4F3A"/>
                </a:solidFill>
                <a:latin typeface="Aptos"/>
              </a:defRPr>
            </a:pPr>
            <a:r>
              <a:t>1. 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267712"/>
            <a:ext cx="1783080" cy="237744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l">
              <a:defRPr sz="1150" b="1">
                <a:solidFill>
                  <a:srgbClr val="D99427"/>
                </a:solidFill>
                <a:latin typeface="Aptos"/>
              </a:defRPr>
            </a:pPr>
            <a:r>
              <a:t>Raw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615184"/>
            <a:ext cx="1755648" cy="1188720"/>
          </a:xfrm>
          <a:prstGeom prst="rect">
            <a:avLst/>
          </a:prstGeom>
          <a:noFill/>
        </p:spPr>
        <p:txBody>
          <a:bodyPr wrap="square" lIns="45720" rIns="45720">
            <a:normAutofit lnSpcReduction="10000"/>
          </a:bodyPr>
          <a:lstStyle/>
          <a:p>
            <a:pPr>
              <a:spcAft>
                <a:spcPts val="350"/>
              </a:spcAft>
              <a:defRPr sz="1100">
                <a:solidFill>
                  <a:srgbClr val="191B1A"/>
                </a:solidFill>
                <a:latin typeface="Aptos"/>
              </a:defRPr>
            </a:pPr>
            <a:r>
              <a:t>Load raw WFP CSV</a:t>
            </a:r>
          </a:p>
          <a:p>
            <a:pPr>
              <a:spcAft>
                <a:spcPts val="350"/>
              </a:spcAft>
              <a:defRPr sz="1100">
                <a:solidFill>
                  <a:srgbClr val="191B1A"/>
                </a:solidFill>
                <a:latin typeface="Aptos"/>
              </a:defRPr>
            </a:pPr>
            <a:r>
              <a:t>Inspect 32,171 rows and 16 columns</a:t>
            </a:r>
          </a:p>
          <a:p>
            <a:pPr>
              <a:spcAft>
                <a:spcPts val="350"/>
              </a:spcAft>
              <a:defRPr sz="1100">
                <a:solidFill>
                  <a:srgbClr val="191B1A"/>
                </a:solidFill>
                <a:latin typeface="Aptos"/>
              </a:defRPr>
            </a:pPr>
            <a:r>
              <a:t>Check data types, duplicates and missing values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755648"/>
            <a:ext cx="2130552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9000" y="1956816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normAutofit fontScale="85000" lnSpcReduction="20000"/>
          </a:bodyPr>
          <a:lstStyle/>
          <a:p>
            <a:pPr algn="l">
              <a:defRPr sz="1600" b="1">
                <a:solidFill>
                  <a:srgbClr val="0D4F3A"/>
                </a:solidFill>
                <a:latin typeface="Aptos"/>
              </a:defRPr>
            </a:pPr>
            <a:r>
              <a:t>2. Transform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267712"/>
            <a:ext cx="1783080" cy="237744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l">
              <a:defRPr sz="1150" b="1">
                <a:solidFill>
                  <a:srgbClr val="D99427"/>
                </a:solidFill>
                <a:latin typeface="Aptos"/>
              </a:defRPr>
            </a:pPr>
            <a:r>
              <a:t>Cleaning + filters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2615184"/>
            <a:ext cx="1755648" cy="118872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350"/>
              </a:spcAft>
              <a:defRPr sz="1050">
                <a:solidFill>
                  <a:srgbClr val="191B1A"/>
                </a:solidFill>
                <a:latin typeface="Aptos"/>
              </a:defRPr>
            </a:pPr>
            <a:r>
              <a:t>Convert date to datetime and prices to numeric</a:t>
            </a:r>
          </a:p>
          <a:p>
            <a:pPr>
              <a:spcAft>
                <a:spcPts val="350"/>
              </a:spcAft>
              <a:defRPr sz="1050">
                <a:solidFill>
                  <a:srgbClr val="191B1A"/>
                </a:solidFill>
                <a:latin typeface="Aptos"/>
              </a:defRPr>
            </a:pPr>
            <a:r>
              <a:t>Keep retail food records only</a:t>
            </a:r>
          </a:p>
          <a:p>
            <a:pPr>
              <a:spcAft>
                <a:spcPts val="350"/>
              </a:spcAft>
              <a:defRPr sz="1050">
                <a:solidFill>
                  <a:srgbClr val="191B1A"/>
                </a:solidFill>
                <a:latin typeface="Aptos"/>
              </a:defRPr>
            </a:pPr>
            <a:r>
              <a:t>Remove invalid prices and duplicate rows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33872" y="1755648"/>
            <a:ext cx="2130552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16752" y="1956816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normAutofit fontScale="85000" lnSpcReduction="20000"/>
          </a:bodyPr>
          <a:lstStyle/>
          <a:p>
            <a:pPr algn="l">
              <a:defRPr sz="1600" b="1">
                <a:solidFill>
                  <a:srgbClr val="0D4F3A"/>
                </a:solidFill>
                <a:latin typeface="Aptos"/>
              </a:defRPr>
            </a:pPr>
            <a:r>
              <a:t>3.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2267712"/>
            <a:ext cx="1783080" cy="237744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l">
              <a:defRPr sz="1150" b="1">
                <a:solidFill>
                  <a:srgbClr val="D99427"/>
                </a:solidFill>
                <a:latin typeface="Aptos"/>
              </a:defRPr>
            </a:pPr>
            <a:r>
              <a:t>Features +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615184"/>
            <a:ext cx="1755648" cy="1188720"/>
          </a:xfrm>
          <a:prstGeom prst="rect">
            <a:avLst/>
          </a:prstGeom>
          <a:noFill/>
        </p:spPr>
        <p:txBody>
          <a:bodyPr wrap="square" lIns="45720" rIns="45720">
            <a:normAutofit fontScale="92500" lnSpcReduction="10000"/>
          </a:bodyPr>
          <a:lstStyle/>
          <a:p>
            <a:pPr>
              <a:spcAft>
                <a:spcPts val="350"/>
              </a:spcAft>
              <a:defRPr sz="1050">
                <a:solidFill>
                  <a:srgbClr val="191B1A"/>
                </a:solidFill>
                <a:latin typeface="Aptos"/>
              </a:defRPr>
            </a:pPr>
            <a:r>
              <a:t>Create year, month and quarter</a:t>
            </a:r>
          </a:p>
          <a:p>
            <a:pPr>
              <a:spcAft>
                <a:spcPts val="350"/>
              </a:spcAft>
              <a:defRPr sz="1050">
                <a:solidFill>
                  <a:srgbClr val="191B1A"/>
                </a:solidFill>
                <a:latin typeface="Aptos"/>
              </a:defRPr>
            </a:pPr>
            <a:r>
              <a:t>Create previous price and price-change features</a:t>
            </a:r>
          </a:p>
          <a:p>
            <a:pPr>
              <a:spcAft>
                <a:spcPts val="350"/>
              </a:spcAft>
              <a:defRPr sz="1050">
                <a:solidFill>
                  <a:srgbClr val="191B1A"/>
                </a:solidFill>
                <a:latin typeface="Aptos"/>
              </a:defRPr>
            </a:pPr>
            <a:r>
              <a:t>Create 3-month/6-month averages and next_month_price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21624" y="1755648"/>
            <a:ext cx="2130552" cy="2423160"/>
          </a:xfrm>
          <a:prstGeom prst="roundRect">
            <a:avLst/>
          </a:prstGeom>
          <a:solidFill>
            <a:srgbClr val="E8F1EA"/>
          </a:solidFill>
          <a:ln w="12700">
            <a:solidFill>
              <a:srgbClr val="D8D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04504" y="1956816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normAutofit fontScale="85000" lnSpcReduction="20000"/>
          </a:bodyPr>
          <a:lstStyle/>
          <a:p>
            <a:pPr algn="l">
              <a:defRPr sz="1600" b="1">
                <a:solidFill>
                  <a:srgbClr val="0D4F3A"/>
                </a:solidFill>
                <a:latin typeface="Aptos"/>
              </a:defRPr>
            </a:pPr>
            <a:r>
              <a:t>4.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504" y="2267712"/>
            <a:ext cx="1783080" cy="237744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l">
              <a:defRPr sz="1150" b="1">
                <a:solidFill>
                  <a:srgbClr val="D99427"/>
                </a:solidFill>
                <a:latin typeface="Aptos"/>
              </a:defRPr>
            </a:pPr>
            <a:r>
              <a:t>Outputs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2792" y="2615184"/>
            <a:ext cx="1755648" cy="118872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>
              <a:spcAft>
                <a:spcPts val="350"/>
              </a:spcAft>
              <a:defRPr sz="1100">
                <a:solidFill>
                  <a:srgbClr val="191B1A"/>
                </a:solidFill>
                <a:latin typeface="Aptos"/>
              </a:defRPr>
            </a:pPr>
            <a:r>
              <a:t>Save ML-ready CSV</a:t>
            </a:r>
          </a:p>
          <a:p>
            <a:pPr>
              <a:spcAft>
                <a:spcPts val="350"/>
              </a:spcAft>
              <a:defRPr sz="1100">
                <a:solidFill>
                  <a:srgbClr val="191B1A"/>
                </a:solidFill>
                <a:latin typeface="Aptos"/>
              </a:defRPr>
            </a:pPr>
            <a:r>
              <a:t>Save predictions and final Random Forest model</a:t>
            </a:r>
          </a:p>
          <a:p>
            <a:pPr>
              <a:spcAft>
                <a:spcPts val="350"/>
              </a:spcAft>
              <a:defRPr sz="1100">
                <a:solidFill>
                  <a:srgbClr val="191B1A"/>
                </a:solidFill>
                <a:latin typeface="Aptos"/>
              </a:defRPr>
            </a:pPr>
            <a:r>
              <a:t>Use model and reference data in the Gradio demo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1451" y="4681728"/>
            <a:ext cx="52578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896112" y="4690872"/>
            <a:ext cx="4754880" cy="256032"/>
          </a:xfrm>
          <a:prstGeom prst="rect">
            <a:avLst/>
          </a:prstGeom>
          <a:noFill/>
        </p:spPr>
        <p:txBody>
          <a:bodyPr wrap="square" lIns="18288" rIns="18288">
            <a:normAutofit fontScale="77500" lnSpcReduction="20000"/>
          </a:bodyPr>
          <a:lstStyle/>
          <a:p>
            <a:pPr algn="l">
              <a:defRPr sz="1520" b="1">
                <a:solidFill>
                  <a:srgbClr val="0D4F3A"/>
                </a:solidFill>
                <a:latin typeface="Aptos"/>
              </a:defRPr>
            </a:pPr>
            <a:r>
              <a:t>Pipeline reliability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5001768"/>
            <a:ext cx="4754880" cy="384048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l">
              <a:defRPr sz="1240" b="0">
                <a:solidFill>
                  <a:srgbClr val="191B1A"/>
                </a:solidFill>
                <a:latin typeface="Aptos"/>
              </a:defRPr>
            </a:pPr>
            <a:r>
              <a:rPr dirty="0"/>
              <a:t>The pipeline keeps the raw file unchanged, documents row reductions, validates the target column, and produces a reproducible ML-ready CSV.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5916" y="4668012"/>
            <a:ext cx="5257800" cy="1051560"/>
          </a:xfrm>
          <a:prstGeom prst="roundRect">
            <a:avLst/>
          </a:prstGeom>
          <a:solidFill>
            <a:srgbClr val="E8F1EA"/>
          </a:solidFill>
          <a:ln w="12700">
            <a:solidFill>
              <a:srgbClr val="D8D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6437376" y="4690872"/>
            <a:ext cx="4754880" cy="256032"/>
          </a:xfrm>
          <a:prstGeom prst="rect">
            <a:avLst/>
          </a:prstGeom>
          <a:noFill/>
        </p:spPr>
        <p:txBody>
          <a:bodyPr wrap="square" lIns="18288" rIns="18288">
            <a:normAutofit fontScale="77500" lnSpcReduction="20000"/>
          </a:bodyPr>
          <a:lstStyle/>
          <a:p>
            <a:pPr algn="l">
              <a:defRPr sz="1520" b="1">
                <a:solidFill>
                  <a:srgbClr val="0D4F3A"/>
                </a:solidFill>
                <a:latin typeface="Aptos"/>
              </a:defRPr>
            </a:pPr>
            <a:r>
              <a:t>Automation plan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5001768"/>
            <a:ext cx="4754880" cy="384048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l">
              <a:defRPr sz="1240" b="0">
                <a:solidFill>
                  <a:srgbClr val="191B1A"/>
                </a:solidFill>
                <a:latin typeface="Aptos"/>
              </a:defRPr>
            </a:pPr>
            <a:r>
              <a:t>For production, the same notebook/script can be scheduled monthly using GitHub Actions or cron whenever new WFP price data is available.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291072"/>
            <a:ext cx="11064240" cy="9144"/>
          </a:xfrm>
          <a:prstGeom prst="rect">
            <a:avLst/>
          </a:prstGeom>
          <a:solidFill>
            <a:srgbClr val="D8D0BF"/>
          </a:solidFill>
          <a:ln>
            <a:solidFill>
              <a:srgbClr val="D8D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6382512"/>
            <a:ext cx="4389120" cy="201168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l">
              <a:defRPr sz="880" b="0">
                <a:solidFill>
                  <a:srgbClr val="5E6661"/>
                </a:solidFill>
                <a:latin typeface="Aptos"/>
              </a:defRPr>
            </a:pPr>
            <a:r>
              <a:t>Uganda Retail Food Price Prediction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5640" y="6382512"/>
            <a:ext cx="502920" cy="201168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20000"/>
          </a:bodyPr>
          <a:lstStyle/>
          <a:p>
            <a:pPr algn="r">
              <a:defRPr sz="880">
                <a:solidFill>
                  <a:srgbClr val="5E6661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9A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Cleaning and feature engineering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53312"/>
            <a:ext cx="3383280" cy="42976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813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Cleaning decisions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792224"/>
            <a:ext cx="3063240" cy="3749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Converted date to datetime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Converted prices to numeric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Removed non-food items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Kept retail prices only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Checked duplicates and invalid prices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Removed rows with missing lag/target values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4407408" y="1353312"/>
            <a:ext cx="3383280" cy="4297680"/>
          </a:xfrm>
          <a:prstGeom prst="roundRect">
            <a:avLst>
              <a:gd name="adj" fmla="val 2162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4813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features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0" y="1792224"/>
            <a:ext cx="3063240" cy="3749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month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quarter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previous_price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price_change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price_pct_change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price_3_month_avg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price_6_month_avg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8156448" y="1353312"/>
            <a:ext cx="3383280" cy="4297680"/>
          </a:xfrm>
          <a:prstGeom prst="roundRect">
            <a:avLst>
              <a:gd name="adj" fmla="val 2162"/>
            </a:avLst>
          </a:prstGeom>
          <a:solidFill>
            <a:srgbClr val="EFE9DC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14813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Target variable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321040" y="1792224"/>
            <a:ext cx="3063240" cy="3749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next_month_price</a:t>
            </a:r>
            <a:endParaRPr lang="en-US" sz="1320" dirty="0"/>
          </a:p>
          <a:p>
            <a:pPr marL="0" indent="0">
              <a:buNone/>
            </a:pP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next recorded retail price for the same commodity in the same market.</a:t>
            </a:r>
            <a:endParaRPr lang="en-US" sz="1320" dirty="0"/>
          </a:p>
          <a:p>
            <a:pPr marL="0" indent="0">
              <a:buNone/>
            </a:pP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turns the dataset into a supervised regression problem.</a:t>
            </a:r>
            <a:endParaRPr lang="en-US" sz="13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Exploratory data analysis: distribution and coverage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pic>
        <p:nvPicPr>
          <p:cNvPr id="5" name="Image 0" descr="/mnt/data/pptx_extract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921" y="1298448"/>
            <a:ext cx="4981543" cy="2971800"/>
          </a:xfrm>
          <a:prstGeom prst="rect">
            <a:avLst/>
          </a:prstGeom>
        </p:spPr>
      </p:pic>
      <p:pic>
        <p:nvPicPr>
          <p:cNvPr id="6" name="Image 1" descr="/mnt/data/pptx_extract/ppt/media/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4337" y="1298448"/>
            <a:ext cx="4981543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9808" y="4617720"/>
            <a:ext cx="4983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914400" y="47457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Price distribution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914400" y="5056632"/>
            <a:ext cx="466344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retail food prices are concentrated at lower values, with a few high-price outliers.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382512" y="4617720"/>
            <a:ext cx="4983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547104" y="47457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Commodity coverage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547104" y="5056632"/>
            <a:ext cx="466344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Maize flour, maize, beans, vegetable oil and sorghum have the most records, giving the model strong historical coverage.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Average retail food price trend over time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pic>
        <p:nvPicPr>
          <p:cNvPr id="5" name="Image 0" descr="/mnt/data/pptx_extract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701" y="1280160"/>
            <a:ext cx="7653838" cy="3794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89660" y="5312664"/>
            <a:ext cx="10012680" cy="758531"/>
          </a:xfrm>
          <a:prstGeom prst="roundRect">
            <a:avLst>
              <a:gd name="adj" fmla="val 10667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261872" y="5385816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261872" y="5696712"/>
            <a:ext cx="9692640" cy="137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retail food prices generally rise over the period, with visible dips and spikes that may reflect seasonality, market shocks or changes in food supply conditions.</a:t>
            </a:r>
            <a:endParaRPr lang="en-US" sz="10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9A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SIGNAL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Relationship with the prediction target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pic>
        <p:nvPicPr>
          <p:cNvPr id="5" name="Image 0" descr="/mnt/data/pptx_extract/ppt/media/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80281"/>
            <a:ext cx="5486400" cy="409743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463040"/>
            <a:ext cx="4617720" cy="1325880"/>
          </a:xfrm>
          <a:prstGeom prst="roundRect">
            <a:avLst>
              <a:gd name="adj" fmla="val 5517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93992" y="159105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regression is feasible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793992" y="1901952"/>
            <a:ext cx="429768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scatter plot shows a strong positive relationship between the current price and the next month price.</a:t>
            </a:r>
            <a:endParaRPr lang="en-US" sz="1230" dirty="0"/>
          </a:p>
        </p:txBody>
      </p:sp>
      <p:sp>
        <p:nvSpPr>
          <p:cNvPr id="9" name="Shape 6"/>
          <p:cNvSpPr/>
          <p:nvPr/>
        </p:nvSpPr>
        <p:spPr>
          <a:xfrm>
            <a:off x="6629400" y="3063240"/>
            <a:ext cx="46177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793992" y="319125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Modelling implication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793992" y="3502152"/>
            <a:ext cx="429768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Historical price features such as current price, previous price and moving averages should be useful predictors.</a:t>
            </a:r>
            <a:endParaRPr lang="en-US" sz="1230" dirty="0"/>
          </a:p>
        </p:txBody>
      </p:sp>
      <p:sp>
        <p:nvSpPr>
          <p:cNvPr id="12" name="Shape 9"/>
          <p:cNvSpPr/>
          <p:nvPr/>
        </p:nvSpPr>
        <p:spPr>
          <a:xfrm>
            <a:off x="6629400" y="4846320"/>
            <a:ext cx="4617720" cy="868680"/>
          </a:xfrm>
          <a:prstGeom prst="roundRect">
            <a:avLst>
              <a:gd name="adj" fmla="val 8421"/>
            </a:avLst>
          </a:prstGeom>
          <a:solidFill>
            <a:srgbClr val="EFE9DC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793992" y="5102352"/>
            <a:ext cx="4297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Extreme points indicate that sudden price spikes may still be difficult to predict.</a:t>
            </a:r>
            <a:endParaRPr lang="en-US" sz="10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9A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Machine learning models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63040"/>
            <a:ext cx="338328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5910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Baseline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901952"/>
            <a:ext cx="3063240" cy="2697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month price = current price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as a benchmark to test whether machine learning adds value.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07408" y="1463040"/>
            <a:ext cx="3383280" cy="3246120"/>
          </a:xfrm>
          <a:prstGeom prst="roundRect">
            <a:avLst>
              <a:gd name="adj" fmla="val 2254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5910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Random Forest Regressor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1901952"/>
            <a:ext cx="3063240" cy="2697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Classical ML model.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Handles non-linear patterns and mixed features well after preprocessing.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65008" y="1463040"/>
            <a:ext cx="3383280" cy="3246120"/>
          </a:xfrm>
          <a:prstGeom prst="roundRect">
            <a:avLst>
              <a:gd name="adj" fmla="val 2254"/>
            </a:avLst>
          </a:prstGeom>
          <a:solidFill>
            <a:srgbClr val="EFE9DC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15910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Neural Network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0" y="1901952"/>
            <a:ext cx="3063240" cy="2697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Feedforward regression model.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to satisfy the deep learning comparison requirement.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53035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metrics: MAE, RMSE and R²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79A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508760"/>
            <a:ext cx="2377440" cy="438912"/>
          </a:xfrm>
          <a:prstGeom prst="rect">
            <a:avLst/>
          </a:prstGeom>
          <a:solidFill>
            <a:srgbClr val="0F4B3A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6276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508760"/>
            <a:ext cx="1463040" cy="438912"/>
          </a:xfrm>
          <a:prstGeom prst="rect">
            <a:avLst/>
          </a:prstGeom>
          <a:solidFill>
            <a:srgbClr val="0F4B3A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276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1508760"/>
            <a:ext cx="1645920" cy="438912"/>
          </a:xfrm>
          <a:prstGeom prst="rect">
            <a:avLst/>
          </a:prstGeom>
          <a:solidFill>
            <a:srgbClr val="0F4B3A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62763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37960" y="1508760"/>
            <a:ext cx="1097280" cy="438912"/>
          </a:xfrm>
          <a:prstGeom prst="rect">
            <a:avLst/>
          </a:prstGeom>
          <a:solidFill>
            <a:srgbClr val="0F4B3A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62763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51560" y="1947672"/>
            <a:ext cx="2377440" cy="438912"/>
          </a:xfrm>
          <a:prstGeom prst="rect">
            <a:avLst/>
          </a:prstGeom>
          <a:solidFill>
            <a:srgbClr val="FFFFFF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066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29000" y="1947672"/>
            <a:ext cx="1463040" cy="438912"/>
          </a:xfrm>
          <a:prstGeom prst="rect">
            <a:avLst/>
          </a:prstGeom>
          <a:solidFill>
            <a:srgbClr val="FFFFFF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20665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557.70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92040" y="1947672"/>
            <a:ext cx="1645920" cy="438912"/>
          </a:xfrm>
          <a:prstGeom prst="rect">
            <a:avLst/>
          </a:prstGeom>
          <a:solidFill>
            <a:srgbClr val="FFFFFF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066544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1975.42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1947672"/>
            <a:ext cx="1097280" cy="438912"/>
          </a:xfrm>
          <a:prstGeom prst="rect">
            <a:avLst/>
          </a:prstGeom>
          <a:solidFill>
            <a:srgbClr val="FFFFFF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206654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0.8586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51560" y="2386584"/>
            <a:ext cx="2377440" cy="438912"/>
          </a:xfrm>
          <a:prstGeom prst="rect">
            <a:avLst/>
          </a:prstGeom>
          <a:solidFill>
            <a:srgbClr val="E8F1EA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250545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429000" y="2386584"/>
            <a:ext cx="1463040" cy="438912"/>
          </a:xfrm>
          <a:prstGeom prst="rect">
            <a:avLst/>
          </a:prstGeom>
          <a:solidFill>
            <a:srgbClr val="E8F1EA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0" y="25054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533.20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92040" y="2386584"/>
            <a:ext cx="1645920" cy="438912"/>
          </a:xfrm>
          <a:prstGeom prst="rect">
            <a:avLst/>
          </a:prstGeom>
          <a:solidFill>
            <a:srgbClr val="E8F1EA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505456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1697.70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37960" y="2386584"/>
            <a:ext cx="1097280" cy="438912"/>
          </a:xfrm>
          <a:prstGeom prst="rect">
            <a:avLst/>
          </a:prstGeom>
          <a:solidFill>
            <a:srgbClr val="E8F1EA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250545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0.8955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51560" y="2825496"/>
            <a:ext cx="2377440" cy="438912"/>
          </a:xfrm>
          <a:prstGeom prst="rect">
            <a:avLst/>
          </a:prstGeom>
          <a:solidFill>
            <a:srgbClr val="FFFFFF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7280" y="294436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Neural Network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429000" y="2825496"/>
            <a:ext cx="1463040" cy="438912"/>
          </a:xfrm>
          <a:prstGeom prst="rect">
            <a:avLst/>
          </a:prstGeom>
          <a:solidFill>
            <a:srgbClr val="FFFFFF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0" y="294436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691.14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892040" y="2825496"/>
            <a:ext cx="1645920" cy="438912"/>
          </a:xfrm>
          <a:prstGeom prst="rect">
            <a:avLst/>
          </a:prstGeom>
          <a:solidFill>
            <a:srgbClr val="FFFFFF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29443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1760.43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37960" y="2825496"/>
            <a:ext cx="1097280" cy="438912"/>
          </a:xfrm>
          <a:prstGeom prst="rect">
            <a:avLst/>
          </a:prstGeom>
          <a:solidFill>
            <a:srgbClr val="FFFFFF"/>
          </a:solidFill>
          <a:ln w="8890">
            <a:solidFill>
              <a:srgbClr val="D8D0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294436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0.8877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458200" y="15087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22792" y="16367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Best model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622792" y="1947672"/>
            <a:ext cx="228600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320" dirty="0"/>
          </a:p>
          <a:p>
            <a:pPr marL="0" indent="0">
              <a:buNone/>
            </a:pP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MAE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RMSE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R²</a:t>
            </a:r>
            <a:endParaRPr lang="en-US" sz="1320" dirty="0"/>
          </a:p>
        </p:txBody>
      </p:sp>
      <p:sp>
        <p:nvSpPr>
          <p:cNvPr id="40" name="Shape 38"/>
          <p:cNvSpPr/>
          <p:nvPr/>
        </p:nvSpPr>
        <p:spPr>
          <a:xfrm>
            <a:off x="1097280" y="4160520"/>
            <a:ext cx="9966960" cy="960120"/>
          </a:xfrm>
          <a:prstGeom prst="roundRect">
            <a:avLst>
              <a:gd name="adj" fmla="val 7619"/>
            </a:avLst>
          </a:prstGeom>
          <a:solidFill>
            <a:srgbClr val="EFE9DC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261872" y="4288536"/>
            <a:ext cx="9646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Interpretation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1261872" y="4599432"/>
            <a:ext cx="96469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Random Forest model outperformed the baseline and neural network. It explained approximately 89.6% of the variation in next-month retail food prices.</a:t>
            </a:r>
            <a:endParaRPr lang="en-US" sz="114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Dashboard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11390" y="1545336"/>
            <a:ext cx="2988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94360" y="6089904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8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A1F9F60-78FB-6556-F2BA-3919FA617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06179"/>
            <a:ext cx="8208818" cy="5084881"/>
          </a:xfrm>
          <a:prstGeom prst="rect">
            <a:avLst/>
          </a:prstGeom>
        </p:spPr>
      </p:pic>
      <p:sp>
        <p:nvSpPr>
          <p:cNvPr id="36" name="Shape 22">
            <a:extLst>
              <a:ext uri="{FF2B5EF4-FFF2-40B4-BE49-F238E27FC236}">
                <a16:creationId xmlns:a16="http://schemas.microsoft.com/office/drawing/2014/main" id="{F5174F22-EC88-7BCE-25A7-48B6BACEA525}"/>
              </a:ext>
            </a:extLst>
          </p:cNvPr>
          <p:cNvSpPr/>
          <p:nvPr/>
        </p:nvSpPr>
        <p:spPr>
          <a:xfrm>
            <a:off x="8385464" y="1197864"/>
            <a:ext cx="3578529" cy="2948109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en-US" dirty="0"/>
              <a:t>This Dashboard demonstrates the relationship between the current price vs Predicted price and visualizations. It has filters and it auto refreshes every 1 minute.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195BD-5055-2929-6FFF-A38D3C1D3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3950AE0-D0C2-E510-DECE-C62574A52ED8}"/>
              </a:ext>
            </a:extLst>
          </p:cNvPr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interface and project repository</a:t>
            </a:r>
            <a:endParaRPr lang="en-US" sz="25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0484030-9227-DAE6-E008-617B1FA0B991}"/>
              </a:ext>
            </a:extLst>
          </p:cNvPr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3146BD22-F9AD-EB4E-9FA3-1B29F9DD857E}"/>
              </a:ext>
            </a:extLst>
          </p:cNvPr>
          <p:cNvSpPr/>
          <p:nvPr/>
        </p:nvSpPr>
        <p:spPr>
          <a:xfrm>
            <a:off x="7394170" y="1416904"/>
            <a:ext cx="43434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F39B63C-59D4-DD6C-A248-E8B5EF1EF8C1}"/>
              </a:ext>
            </a:extLst>
          </p:cNvPr>
          <p:cNvSpPr/>
          <p:nvPr/>
        </p:nvSpPr>
        <p:spPr>
          <a:xfrm>
            <a:off x="8011390" y="1545336"/>
            <a:ext cx="2988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function</a:t>
            </a:r>
            <a:endParaRPr lang="en-US" sz="14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FCEA999-26C0-1F4A-C005-9AED1D6441A1}"/>
              </a:ext>
            </a:extLst>
          </p:cNvPr>
          <p:cNvSpPr/>
          <p:nvPr/>
        </p:nvSpPr>
        <p:spPr>
          <a:xfrm>
            <a:off x="7647708" y="1856232"/>
            <a:ext cx="389202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 lets a user select a commodity and market, enter price values, and receive a next-month retail price prediction.</a:t>
            </a:r>
            <a:endParaRPr lang="en-US" sz="115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7B376B78-871E-28F2-0454-526160723A4B}"/>
              </a:ext>
            </a:extLst>
          </p:cNvPr>
          <p:cNvSpPr/>
          <p:nvPr/>
        </p:nvSpPr>
        <p:spPr>
          <a:xfrm>
            <a:off x="7422018" y="3044744"/>
            <a:ext cx="4343400" cy="1417320"/>
          </a:xfrm>
          <a:prstGeom prst="roundRect">
            <a:avLst>
              <a:gd name="adj" fmla="val 5161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F5E5D47-9FE9-5817-FC93-3A0B2AAE60B6}"/>
              </a:ext>
            </a:extLst>
          </p:cNvPr>
          <p:cNvSpPr/>
          <p:nvPr/>
        </p:nvSpPr>
        <p:spPr>
          <a:xfrm>
            <a:off x="8136082" y="3200400"/>
            <a:ext cx="3309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1582D9F-7650-6C9B-0D52-10EDEB4A21E4}"/>
              </a:ext>
            </a:extLst>
          </p:cNvPr>
          <p:cNvSpPr/>
          <p:nvPr/>
        </p:nvSpPr>
        <p:spPr>
          <a:xfrm>
            <a:off x="7516368" y="3484072"/>
            <a:ext cx="4023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github.com/floCarlee/Uganda_Food_Price_Prediction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Includes notebooks, data, model, app, figures and presentation.</a:t>
            </a:r>
            <a:endParaRPr lang="en-US" sz="11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F1151DC-A528-5146-EF48-DA3B1BC20174}"/>
              </a:ext>
            </a:extLst>
          </p:cNvPr>
          <p:cNvSpPr/>
          <p:nvPr/>
        </p:nvSpPr>
        <p:spPr>
          <a:xfrm>
            <a:off x="594360" y="6089904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80" dirty="0"/>
          </a:p>
        </p:txBody>
      </p:sp>
      <p:sp>
        <p:nvSpPr>
          <p:cNvPr id="31" name="Slide Number Placeholder 0">
            <a:extLst>
              <a:ext uri="{FF2B5EF4-FFF2-40B4-BE49-F238E27FC236}">
                <a16:creationId xmlns:a16="http://schemas.microsoft.com/office/drawing/2014/main" id="{69BFE331-9BBE-A5CD-7C71-9620ABF680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0E6CCF-C1B1-204C-700D-8E204ADCD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" y="1238586"/>
            <a:ext cx="7286520" cy="407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950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566928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243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 and conclusion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115568"/>
            <a:ext cx="914400" cy="0"/>
          </a:xfrm>
          <a:prstGeom prst="line">
            <a:avLst/>
          </a:prstGeom>
          <a:noFill/>
          <a:ln w="38100">
            <a:solidFill>
              <a:srgbClr val="176B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17320"/>
            <a:ext cx="51663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5453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56232"/>
            <a:ext cx="4846320" cy="2880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model does not include external drivers such as rainfall, fuel prices, exchange rates, inflation, transport costs, harvest seasons, conflict or supply disruptions.</a:t>
            </a:r>
            <a:endParaRPr lang="en-US" sz="1280" dirty="0"/>
          </a:p>
          <a:p>
            <a:pPr marL="0" indent="0">
              <a:buNone/>
            </a:pP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factors may explain sudden price movements that the model cannot fully capture.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6263640" y="1417320"/>
            <a:ext cx="5166360" cy="3429000"/>
          </a:xfrm>
          <a:prstGeom prst="roundRect">
            <a:avLst>
              <a:gd name="adj" fmla="val 2133"/>
            </a:avLst>
          </a:prstGeom>
          <a:solidFill>
            <a:srgbClr val="E8F1EA"/>
          </a:solidFill>
          <a:ln w="12700">
            <a:solidFill>
              <a:srgbClr val="D8D0B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28232" y="15453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1856232"/>
            <a:ext cx="4846320" cy="2880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project successfully built an end-to-end ML pipeline for Uganda retail food price prediction.</a:t>
            </a:r>
            <a:endParaRPr lang="en-US" sz="1280" dirty="0"/>
          </a:p>
          <a:p>
            <a:pPr marL="0" indent="0">
              <a:buNone/>
            </a:pP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was selected as the final model with an R² score of 0.8955.</a:t>
            </a:r>
            <a:endParaRPr lang="en-US" sz="1280" dirty="0"/>
          </a:p>
          <a:p>
            <a:pPr marL="0" indent="0">
              <a:buNone/>
            </a:pP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243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demonstrates cleaning, feature engineering, EDA, modelling, evaluation, GitHub documentation and a working demo.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777240" y="534924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4B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Work: combine price data with weather, fuel, inflation and exchange-rate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F6A5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4295</TotalTime>
  <Words>1147</Words>
  <Application>Microsoft Macintosh PowerPoint</Application>
  <PresentationFormat>Widescreen</PresentationFormat>
  <Paragraphs>218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Data Engineering and Analytics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Retail Food Prices in Ugandan Markets Using WFP Market Price Data</dc:title>
  <dc:subject>Uganda Retail Food Price Prediction</dc:subject>
  <dc:creator>Florence Kemigisha</dc:creator>
  <cp:keywords/>
  <dc:description/>
  <cp:lastModifiedBy>Flo</cp:lastModifiedBy>
  <cp:revision>14</cp:revision>
  <dcterms:created xsi:type="dcterms:W3CDTF">2026-08-08T09:42:26Z</dcterms:created>
  <dcterms:modified xsi:type="dcterms:W3CDTF">2026-08-11T09:19:49Z</dcterms:modified>
  <cp:category/>
</cp:coreProperties>
</file>