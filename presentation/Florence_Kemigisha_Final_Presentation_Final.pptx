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026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2C62-C96F-220A-CE33-43D3595A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36DB1-8904-573A-5F67-021BFE232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C32FF-8F52-72B5-910D-01AED78DD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2ABF8-46CD-90C0-B61F-4BB2B32543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32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D8D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Uganda Retail Food Price Prediction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 w="12700">
            <a:solidFill>
              <a:srgbClr val="F8F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4B3A"/>
          </a:solidFill>
          <a:ln w="12700">
            <a:solidFill>
              <a:srgbClr val="0F4B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Predicting Retail Food Prices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Ugandan Markets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4871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WFP market price data to forecast next-month retail food prices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Engineering &amp; Analytics Final 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Florence Kemigisha  •  13 August 2026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58200" y="1051560"/>
            <a:ext cx="2971800" cy="4526280"/>
          </a:xfrm>
          <a:prstGeom prst="roundRect">
            <a:avLst>
              <a:gd name="adj" fmla="val 2462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22792" y="11795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at a glance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22792" y="1490472"/>
            <a:ext cx="265176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model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food prices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markets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commodities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2006 – Jun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model: Random Forest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3794760"/>
            <a:ext cx="2834640" cy="0"/>
          </a:xfrm>
          <a:prstGeom prst="line">
            <a:avLst/>
          </a:prstGeom>
          <a:noFill/>
          <a:ln w="25400">
            <a:solidFill>
              <a:srgbClr val="D79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98678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GitHub: github.com/floCarlee/Uganda_Food_Price_Prediction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</a:rPr>
              <a:t>PROBLEM STATEMENT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453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48463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food prices in Uganda change over time because of market conditions, seasonality, inflation, supply factors and location differences.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changes affect household purchasing power, food security and planning decisions.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2512" y="15453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82512" y="1856232"/>
            <a:ext cx="48463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machine learning regression model that predicts the next month retail price of  food commodity in the Ugandan market.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model uses commodity, market, location, time and historical price features.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6089904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Framed as a regression task: predicting a numerical target variable, next_month_price.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description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“https://</a:t>
            </a:r>
            <a:r>
              <a:rPr lang="en-US" sz="1200" dirty="0" err="1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data.humdata.org</a:t>
            </a:r>
            <a:r>
              <a:rPr lang="en-US" sz="12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/dataset/</a:t>
            </a:r>
            <a:r>
              <a:rPr lang="en-US" sz="1200" dirty="0" err="1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wfp</a:t>
            </a:r>
            <a:r>
              <a:rPr lang="en-US" sz="12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-food-prices-for-Uganda”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used: wfp_food_prices_uga.csv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32,171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rows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5146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877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877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columns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434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165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165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1722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453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453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commodities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0010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741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2006–2026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741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8298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02952" y="20848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UGX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02952" y="24140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currency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13232" y="32461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7824" y="3374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fields used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" y="3685032"/>
            <a:ext cx="49377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date, region, district, market, latitude, longitude, category, commodity, unit, price type, currency, price and USD price.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99632" y="32461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64224" y="3374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preparation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64224" y="3685032"/>
            <a:ext cx="49377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modelling dataset contains 20,872 rows and 21 columns after filtering retail food records and creating lag, moving-average and target features.</a:t>
            </a:r>
            <a:endParaRPr lang="en-US" sz="12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engineering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CSV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58368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WFP file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1947672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21992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understanding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240280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shape, types, missing values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3529584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0752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&amp; filtering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822192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food records only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111496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2664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85816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404104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lags + moving averages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693408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94576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67728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&amp; visualization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986016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 and relationships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8275320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76488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49640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training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567928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baseline, RF, neural net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9857232" y="2221992"/>
            <a:ext cx="146304" cy="310896"/>
          </a:xfrm>
          <a:prstGeom prst="chevron">
            <a:avLst/>
          </a:prstGeom>
          <a:solidFill>
            <a:srgbClr val="D79A2B"/>
          </a:solidFill>
          <a:ln w="12700">
            <a:solidFill>
              <a:srgbClr val="D79A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0" y="1828800"/>
            <a:ext cx="1316736" cy="1097280"/>
          </a:xfrm>
          <a:prstGeom prst="roundRect">
            <a:avLst>
              <a:gd name="adj" fmla="val 6667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131552" y="19933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&amp; demo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10149840" y="2331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E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+ Gradio app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932688" y="3840480"/>
            <a:ext cx="10287000" cy="1051560"/>
          </a:xfrm>
          <a:prstGeom prst="roundRect">
            <a:avLst>
              <a:gd name="adj" fmla="val 6957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97280" y="39684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this a data engineering project?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279392"/>
            <a:ext cx="9966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is not only model training. It includes data ingestion, quality checks, filtering, feature engineering, train-test preparation, model packaging and a demo interface.</a:t>
            </a:r>
            <a:endParaRPr lang="en-US" sz="122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4114800" cy="228600"/>
          </a:xfrm>
          <a:prstGeom prst="rect">
            <a:avLst/>
          </a:prstGeom>
          <a:noFill/>
        </p:spPr>
        <p:txBody>
          <a:bodyPr wrap="square" lIns="18288" rIns="18288">
            <a:normAutofit fontScale="92500" lnSpcReduction="20000"/>
          </a:bodyPr>
          <a:lstStyle/>
          <a:p>
            <a:pPr algn="l">
              <a:defRPr sz="1050" b="1">
                <a:solidFill>
                  <a:srgbClr val="D99427"/>
                </a:solidFill>
                <a:latin typeface="Aptos"/>
              </a:defRPr>
            </a:pPr>
            <a:r>
              <a:t>ETL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332720" cy="457200"/>
          </a:xfrm>
          <a:prstGeom prst="rect">
            <a:avLst/>
          </a:prstGeom>
          <a:noFill/>
        </p:spPr>
        <p:txBody>
          <a:bodyPr wrap="square" lIns="18288" rIns="18288">
            <a:normAutofit lnSpcReduction="10000"/>
          </a:bodyPr>
          <a:lstStyle/>
          <a:p>
            <a:pPr algn="l">
              <a:defRPr sz="2500" b="1">
                <a:solidFill>
                  <a:srgbClr val="191B1A"/>
                </a:solidFill>
                <a:latin typeface="Aptos"/>
              </a:defRPr>
            </a:pPr>
            <a:r>
              <a:t>ETL pipeline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914400" cy="32004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188720"/>
            <a:ext cx="10652760" cy="292608"/>
          </a:xfrm>
          <a:prstGeom prst="rect">
            <a:avLst/>
          </a:prstGeom>
          <a:noFill/>
        </p:spPr>
        <p:txBody>
          <a:bodyPr wrap="square" lIns="18288" rIns="18288">
            <a:normAutofit lnSpcReduction="10000"/>
          </a:bodyPr>
          <a:lstStyle/>
          <a:p>
            <a:pPr algn="l">
              <a:defRPr sz="1350" b="0">
                <a:solidFill>
                  <a:srgbClr val="5E6661"/>
                </a:solidFill>
                <a:latin typeface="Aptos"/>
              </a:defRPr>
            </a:pPr>
            <a:r>
              <a:t>How the raw WFP file becomes the ML-ready dataset used by the models and demo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2679192"/>
            <a:ext cx="502920" cy="292608"/>
          </a:xfrm>
          <a:prstGeom prst="rightArrow">
            <a:avLst/>
          </a:prstGeom>
          <a:solidFill>
            <a:srgbClr val="D99427"/>
          </a:solidFill>
          <a:ln>
            <a:solidFill>
              <a:srgbClr val="D9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5394960" y="2679192"/>
            <a:ext cx="502920" cy="292608"/>
          </a:xfrm>
          <a:prstGeom prst="rightArrow">
            <a:avLst/>
          </a:prstGeom>
          <a:solidFill>
            <a:srgbClr val="D99427"/>
          </a:solidFill>
          <a:ln>
            <a:solidFill>
              <a:srgbClr val="D9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001000" y="2679192"/>
            <a:ext cx="502920" cy="292608"/>
          </a:xfrm>
          <a:prstGeom prst="rightArrow">
            <a:avLst/>
          </a:prstGeom>
          <a:solidFill>
            <a:srgbClr val="D99427"/>
          </a:solidFill>
          <a:ln>
            <a:solidFill>
              <a:srgbClr val="D9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2130552" cy="2423160"/>
          </a:xfrm>
          <a:prstGeom prst="roundRect">
            <a:avLst/>
          </a:prstGeom>
          <a:solidFill>
            <a:srgbClr val="F2ECDE"/>
          </a:solidFill>
          <a:ln w="12700">
            <a:solidFill>
              <a:srgbClr val="D8D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956816"/>
            <a:ext cx="1783080" cy="274320"/>
          </a:xfrm>
          <a:prstGeom prst="rect">
            <a:avLst/>
          </a:prstGeom>
          <a:noFill/>
        </p:spPr>
        <p:txBody>
          <a:bodyPr wrap="square" lIns="18288" rIns="18288">
            <a:normAutofit fontScale="85000" lnSpcReduction="20000"/>
          </a:bodyPr>
          <a:lstStyle/>
          <a:p>
            <a:pPr algn="l">
              <a:defRPr sz="1600" b="1">
                <a:solidFill>
                  <a:srgbClr val="0D4F3A"/>
                </a:solidFill>
                <a:latin typeface="Aptos"/>
              </a:defRPr>
            </a:pPr>
            <a:r>
              <a:t>1. 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267712"/>
            <a:ext cx="1783080" cy="237744"/>
          </a:xfrm>
          <a:prstGeom prst="rect">
            <a:avLst/>
          </a:prstGeom>
          <a:noFill/>
        </p:spPr>
        <p:txBody>
          <a:bodyPr wrap="square" lIns="18288" rIns="18288">
            <a:normAutofit fontScale="92500" lnSpcReduction="20000"/>
          </a:bodyPr>
          <a:lstStyle/>
          <a:p>
            <a:pPr algn="l">
              <a:defRPr sz="1150" b="1">
                <a:solidFill>
                  <a:srgbClr val="D99427"/>
                </a:solidFill>
                <a:latin typeface="Aptos"/>
              </a:defRPr>
            </a:pPr>
            <a:r>
              <a:t>Raw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15184"/>
            <a:ext cx="1755648" cy="1188720"/>
          </a:xfrm>
          <a:prstGeom prst="rect">
            <a:avLst/>
          </a:prstGeom>
          <a:noFill/>
        </p:spPr>
        <p:txBody>
          <a:bodyPr wrap="square" lIns="45720" rIns="45720">
            <a:normAutofit lnSpcReduction="10000"/>
          </a:bodyPr>
          <a:lstStyle/>
          <a:p>
            <a:pPr>
              <a:spcAft>
                <a:spcPts val="350"/>
              </a:spcAft>
              <a:defRPr sz="1100">
                <a:solidFill>
                  <a:srgbClr val="191B1A"/>
                </a:solidFill>
                <a:latin typeface="Aptos"/>
              </a:defRPr>
            </a:pPr>
            <a:r>
              <a:t>Load raw WFP CSV</a:t>
            </a:r>
          </a:p>
          <a:p>
            <a:pPr>
              <a:spcAft>
                <a:spcPts val="350"/>
              </a:spcAft>
              <a:defRPr sz="1100">
                <a:solidFill>
                  <a:srgbClr val="191B1A"/>
                </a:solidFill>
                <a:latin typeface="Aptos"/>
              </a:defRPr>
            </a:pPr>
            <a:r>
              <a:t>Inspect 32,171 rows and 16 columns</a:t>
            </a:r>
          </a:p>
          <a:p>
            <a:pPr>
              <a:spcAft>
                <a:spcPts val="350"/>
              </a:spcAft>
              <a:defRPr sz="1100">
                <a:solidFill>
                  <a:srgbClr val="191B1A"/>
                </a:solidFill>
                <a:latin typeface="Aptos"/>
              </a:defRPr>
            </a:pPr>
            <a:r>
              <a:t>Check data types, duplicates and missing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755648"/>
            <a:ext cx="213055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956816"/>
            <a:ext cx="1783080" cy="274320"/>
          </a:xfrm>
          <a:prstGeom prst="rect">
            <a:avLst/>
          </a:prstGeom>
          <a:noFill/>
        </p:spPr>
        <p:txBody>
          <a:bodyPr wrap="square" lIns="18288" rIns="18288">
            <a:normAutofit fontScale="85000" lnSpcReduction="20000"/>
          </a:bodyPr>
          <a:lstStyle/>
          <a:p>
            <a:pPr algn="l">
              <a:defRPr sz="1600" b="1">
                <a:solidFill>
                  <a:srgbClr val="0D4F3A"/>
                </a:solidFill>
                <a:latin typeface="Aptos"/>
              </a:defRPr>
            </a:pPr>
            <a:r>
              <a:t>2. 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267712"/>
            <a:ext cx="1783080" cy="237744"/>
          </a:xfrm>
          <a:prstGeom prst="rect">
            <a:avLst/>
          </a:prstGeom>
          <a:noFill/>
        </p:spPr>
        <p:txBody>
          <a:bodyPr wrap="square" lIns="18288" rIns="18288">
            <a:normAutofit fontScale="92500" lnSpcReduction="20000"/>
          </a:bodyPr>
          <a:lstStyle/>
          <a:p>
            <a:pPr algn="l">
              <a:defRPr sz="1150" b="1">
                <a:solidFill>
                  <a:srgbClr val="D99427"/>
                </a:solidFill>
                <a:latin typeface="Aptos"/>
              </a:defRPr>
            </a:pPr>
            <a:r>
              <a:t>Cleaning +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615184"/>
            <a:ext cx="1755648" cy="11887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350"/>
              </a:spcAft>
              <a:defRPr sz="1050">
                <a:solidFill>
                  <a:srgbClr val="191B1A"/>
                </a:solidFill>
                <a:latin typeface="Aptos"/>
              </a:defRPr>
            </a:pPr>
            <a:r>
              <a:t>Convert date to datetime and prices to numeric</a:t>
            </a:r>
          </a:p>
          <a:p>
            <a:pPr>
              <a:spcAft>
                <a:spcPts val="350"/>
              </a:spcAft>
              <a:defRPr sz="1050">
                <a:solidFill>
                  <a:srgbClr val="191B1A"/>
                </a:solidFill>
                <a:latin typeface="Aptos"/>
              </a:defRPr>
            </a:pPr>
            <a:r>
              <a:t>Keep retail food records only</a:t>
            </a:r>
          </a:p>
          <a:p>
            <a:pPr>
              <a:spcAft>
                <a:spcPts val="350"/>
              </a:spcAft>
              <a:defRPr sz="1050">
                <a:solidFill>
                  <a:srgbClr val="191B1A"/>
                </a:solidFill>
                <a:latin typeface="Aptos"/>
              </a:defRPr>
            </a:pPr>
            <a:r>
              <a:t>Remove invalid prices and duplicate 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33872" y="1755648"/>
            <a:ext cx="213055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16752" y="1956816"/>
            <a:ext cx="1783080" cy="274320"/>
          </a:xfrm>
          <a:prstGeom prst="rect">
            <a:avLst/>
          </a:prstGeom>
          <a:noFill/>
        </p:spPr>
        <p:txBody>
          <a:bodyPr wrap="square" lIns="18288" rIns="18288">
            <a:normAutofit fontScale="85000" lnSpcReduction="20000"/>
          </a:bodyPr>
          <a:lstStyle/>
          <a:p>
            <a:pPr algn="l">
              <a:defRPr sz="1600" b="1">
                <a:solidFill>
                  <a:srgbClr val="0D4F3A"/>
                </a:solidFill>
                <a:latin typeface="Aptos"/>
              </a:defRPr>
            </a:pPr>
            <a:r>
              <a:t>3.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2267712"/>
            <a:ext cx="1783080" cy="237744"/>
          </a:xfrm>
          <a:prstGeom prst="rect">
            <a:avLst/>
          </a:prstGeom>
          <a:noFill/>
        </p:spPr>
        <p:txBody>
          <a:bodyPr wrap="square" lIns="18288" rIns="18288">
            <a:normAutofit fontScale="92500" lnSpcReduction="20000"/>
          </a:bodyPr>
          <a:lstStyle/>
          <a:p>
            <a:pPr algn="l">
              <a:defRPr sz="1150" b="1">
                <a:solidFill>
                  <a:srgbClr val="D99427"/>
                </a:solidFill>
                <a:latin typeface="Aptos"/>
              </a:defRPr>
            </a:pPr>
            <a:r>
              <a:t>Features +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615184"/>
            <a:ext cx="1755648" cy="1188720"/>
          </a:xfrm>
          <a:prstGeom prst="rect">
            <a:avLst/>
          </a:prstGeom>
          <a:noFill/>
        </p:spPr>
        <p:txBody>
          <a:bodyPr wrap="square" lIns="45720" rIns="45720">
            <a:normAutofit fontScale="92500" lnSpcReduction="10000"/>
          </a:bodyPr>
          <a:lstStyle/>
          <a:p>
            <a:pPr>
              <a:spcAft>
                <a:spcPts val="350"/>
              </a:spcAft>
              <a:defRPr sz="1050">
                <a:solidFill>
                  <a:srgbClr val="191B1A"/>
                </a:solidFill>
                <a:latin typeface="Aptos"/>
              </a:defRPr>
            </a:pPr>
            <a:r>
              <a:t>Create year, month and quarter</a:t>
            </a:r>
          </a:p>
          <a:p>
            <a:pPr>
              <a:spcAft>
                <a:spcPts val="350"/>
              </a:spcAft>
              <a:defRPr sz="1050">
                <a:solidFill>
                  <a:srgbClr val="191B1A"/>
                </a:solidFill>
                <a:latin typeface="Aptos"/>
              </a:defRPr>
            </a:pPr>
            <a:r>
              <a:t>Create previous price and price-change features</a:t>
            </a:r>
          </a:p>
          <a:p>
            <a:pPr>
              <a:spcAft>
                <a:spcPts val="350"/>
              </a:spcAft>
              <a:defRPr sz="1050">
                <a:solidFill>
                  <a:srgbClr val="191B1A"/>
                </a:solidFill>
                <a:latin typeface="Aptos"/>
              </a:defRPr>
            </a:pPr>
            <a:r>
              <a:t>Create 3-month/6-month averages and next_month_price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21624" y="1755648"/>
            <a:ext cx="2130552" cy="2423160"/>
          </a:xfrm>
          <a:prstGeom prst="roundRect">
            <a:avLst/>
          </a:prstGeom>
          <a:solidFill>
            <a:srgbClr val="E8F1EA"/>
          </a:solidFill>
          <a:ln w="12700">
            <a:solidFill>
              <a:srgbClr val="D8D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04504" y="1956816"/>
            <a:ext cx="1783080" cy="274320"/>
          </a:xfrm>
          <a:prstGeom prst="rect">
            <a:avLst/>
          </a:prstGeom>
          <a:noFill/>
        </p:spPr>
        <p:txBody>
          <a:bodyPr wrap="square" lIns="18288" rIns="18288">
            <a:normAutofit fontScale="85000" lnSpcReduction="20000"/>
          </a:bodyPr>
          <a:lstStyle/>
          <a:p>
            <a:pPr algn="l">
              <a:defRPr sz="1600" b="1">
                <a:solidFill>
                  <a:srgbClr val="0D4F3A"/>
                </a:solidFill>
                <a:latin typeface="Aptos"/>
              </a:defRPr>
            </a:pPr>
            <a:r>
              <a:t>4.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2267712"/>
            <a:ext cx="1783080" cy="237744"/>
          </a:xfrm>
          <a:prstGeom prst="rect">
            <a:avLst/>
          </a:prstGeom>
          <a:noFill/>
        </p:spPr>
        <p:txBody>
          <a:bodyPr wrap="square" lIns="18288" rIns="18288">
            <a:normAutofit fontScale="92500" lnSpcReduction="20000"/>
          </a:bodyPr>
          <a:lstStyle/>
          <a:p>
            <a:pPr algn="l">
              <a:defRPr sz="1150" b="1">
                <a:solidFill>
                  <a:srgbClr val="D99427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2615184"/>
            <a:ext cx="1755648" cy="11887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350"/>
              </a:spcAft>
              <a:defRPr sz="1100">
                <a:solidFill>
                  <a:srgbClr val="191B1A"/>
                </a:solidFill>
                <a:latin typeface="Aptos"/>
              </a:defRPr>
            </a:pPr>
            <a:r>
              <a:t>Save ML-ready CSV</a:t>
            </a:r>
          </a:p>
          <a:p>
            <a:pPr>
              <a:spcAft>
                <a:spcPts val="350"/>
              </a:spcAft>
              <a:defRPr sz="1100">
                <a:solidFill>
                  <a:srgbClr val="191B1A"/>
                </a:solidFill>
                <a:latin typeface="Aptos"/>
              </a:defRPr>
            </a:pPr>
            <a:r>
              <a:t>Save predictions and final Random Forest model</a:t>
            </a:r>
          </a:p>
          <a:p>
            <a:pPr>
              <a:spcAft>
                <a:spcPts val="350"/>
              </a:spcAft>
              <a:defRPr sz="1100">
                <a:solidFill>
                  <a:srgbClr val="191B1A"/>
                </a:solidFill>
                <a:latin typeface="Aptos"/>
              </a:defRPr>
            </a:pPr>
            <a:r>
              <a:t>Use model and reference data in the Gradio demo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1451" y="4681728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896112" y="4690872"/>
            <a:ext cx="4754880" cy="256032"/>
          </a:xfrm>
          <a:prstGeom prst="rect">
            <a:avLst/>
          </a:prstGeom>
          <a:noFill/>
        </p:spPr>
        <p:txBody>
          <a:bodyPr wrap="square" lIns="18288" rIns="18288">
            <a:normAutofit fontScale="77500" lnSpcReduction="20000"/>
          </a:bodyPr>
          <a:lstStyle/>
          <a:p>
            <a:pPr algn="l">
              <a:defRPr sz="1520" b="1">
                <a:solidFill>
                  <a:srgbClr val="0D4F3A"/>
                </a:solidFill>
                <a:latin typeface="Aptos"/>
              </a:defRPr>
            </a:pPr>
            <a:r>
              <a:t>Pipeline reliability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001768"/>
            <a:ext cx="4754880" cy="384048"/>
          </a:xfrm>
          <a:prstGeom prst="rect">
            <a:avLst/>
          </a:prstGeom>
          <a:noFill/>
        </p:spPr>
        <p:txBody>
          <a:bodyPr wrap="square" lIns="18288" rIns="18288">
            <a:normAutofit fontScale="92500" lnSpcReduction="20000"/>
          </a:bodyPr>
          <a:lstStyle/>
          <a:p>
            <a:pPr algn="l">
              <a:defRPr sz="1240" b="0">
                <a:solidFill>
                  <a:srgbClr val="191B1A"/>
                </a:solidFill>
                <a:latin typeface="Aptos"/>
              </a:defRPr>
            </a:pPr>
            <a:r>
              <a:rPr dirty="0"/>
              <a:t>The pipeline keeps the raw file unchanged, documents row reductions, validates the target column, and produces a reproducible ML-ready CSV.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5916" y="4668012"/>
            <a:ext cx="5257800" cy="1051560"/>
          </a:xfrm>
          <a:prstGeom prst="roundRect">
            <a:avLst/>
          </a:prstGeom>
          <a:solidFill>
            <a:srgbClr val="E8F1EA"/>
          </a:solidFill>
          <a:ln w="12700">
            <a:solidFill>
              <a:srgbClr val="D8D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437376" y="4690872"/>
            <a:ext cx="4754880" cy="256032"/>
          </a:xfrm>
          <a:prstGeom prst="rect">
            <a:avLst/>
          </a:prstGeom>
          <a:noFill/>
        </p:spPr>
        <p:txBody>
          <a:bodyPr wrap="square" lIns="18288" rIns="18288">
            <a:normAutofit fontScale="77500" lnSpcReduction="20000"/>
          </a:bodyPr>
          <a:lstStyle/>
          <a:p>
            <a:pPr algn="l">
              <a:defRPr sz="1520" b="1">
                <a:solidFill>
                  <a:srgbClr val="0D4F3A"/>
                </a:solidFill>
                <a:latin typeface="Aptos"/>
              </a:defRPr>
            </a:pPr>
            <a:r>
              <a:t>Automation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5001768"/>
            <a:ext cx="4754880" cy="384048"/>
          </a:xfrm>
          <a:prstGeom prst="rect">
            <a:avLst/>
          </a:prstGeom>
          <a:noFill/>
        </p:spPr>
        <p:txBody>
          <a:bodyPr wrap="square" lIns="18288" rIns="18288">
            <a:normAutofit fontScale="92500" lnSpcReduction="20000"/>
          </a:bodyPr>
          <a:lstStyle/>
          <a:p>
            <a:pPr algn="l">
              <a:defRPr sz="1240" b="0">
                <a:solidFill>
                  <a:srgbClr val="191B1A"/>
                </a:solidFill>
                <a:latin typeface="Aptos"/>
              </a:defRPr>
            </a:pPr>
            <a:r>
              <a:t>For production, the same notebook/script can be scheduled monthly using GitHub Actions or cron whenever new WFP price data is available.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291072"/>
            <a:ext cx="11064240" cy="9144"/>
          </a:xfrm>
          <a:prstGeom prst="rect">
            <a:avLst/>
          </a:prstGeom>
          <a:solidFill>
            <a:srgbClr val="D8D0BF"/>
          </a:solidFill>
          <a:ln>
            <a:solidFill>
              <a:srgbClr val="D8D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382512"/>
            <a:ext cx="4389120" cy="201168"/>
          </a:xfrm>
          <a:prstGeom prst="rect">
            <a:avLst/>
          </a:prstGeom>
          <a:noFill/>
        </p:spPr>
        <p:txBody>
          <a:bodyPr wrap="square" lIns="18288" rIns="18288">
            <a:normAutofit fontScale="92500" lnSpcReduction="20000"/>
          </a:bodyPr>
          <a:lstStyle/>
          <a:p>
            <a:pPr algn="l">
              <a:defRPr sz="880" b="0">
                <a:solidFill>
                  <a:srgbClr val="5E6661"/>
                </a:solidFill>
                <a:latin typeface="Aptos"/>
              </a:defRPr>
            </a:pPr>
            <a:r>
              <a:t>Uganda Retail Food Price 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382512"/>
            <a:ext cx="502920" cy="201168"/>
          </a:xfrm>
          <a:prstGeom prst="rect">
            <a:avLst/>
          </a:prstGeom>
          <a:noFill/>
        </p:spPr>
        <p:txBody>
          <a:bodyPr wrap="square" lIns="18288" rIns="18288">
            <a:normAutofit fontScale="92500" lnSpcReduction="20000"/>
          </a:bodyPr>
          <a:lstStyle/>
          <a:p>
            <a:pPr algn="r">
              <a:defRPr sz="880">
                <a:solidFill>
                  <a:srgbClr val="5E6661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and feature engineering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81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decisions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792224"/>
            <a:ext cx="3063240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Converted date to datetime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Converted prices to numeric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Removed non-food items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Kept retail prices only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Checked duplicates and invalid prices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Removed rows with missing lag/target values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407408" y="1353312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481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features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1792224"/>
            <a:ext cx="3063240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year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month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quarter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previous_price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price_change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price_pct_change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price_3_month_avg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price_6_month_avg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156448" y="1353312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1481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variable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1792224"/>
            <a:ext cx="3063240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next_month_price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next recorded retail price for the same commodity in the same market.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turns the dataset into a supervised regression problem.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data analysis: distribution and coverage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pic>
        <p:nvPicPr>
          <p:cNvPr id="5" name="Image 0" descr="/mnt/data/pptx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21" y="1298448"/>
            <a:ext cx="4981543" cy="2971800"/>
          </a:xfrm>
          <a:prstGeom prst="rect">
            <a:avLst/>
          </a:prstGeom>
        </p:spPr>
      </p:pic>
      <p:pic>
        <p:nvPicPr>
          <p:cNvPr id="6" name="Image 1" descr="/mnt/data/pptx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337" y="1298448"/>
            <a:ext cx="4981543" cy="2971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9808" y="461772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914400" y="47457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 distribution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14400" y="5056632"/>
            <a:ext cx="4663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retail food prices are concentrated at lower values, with a few high-price outliers.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382512" y="461772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547104" y="47457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Commodity coverage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547104" y="5056632"/>
            <a:ext cx="4663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Maize flour, maize, beans, vegetable oil and sorghum have the most records, giving the model strong historical coverage.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Average retail food price trend over time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pic>
        <p:nvPicPr>
          <p:cNvPr id="5" name="Image 0" descr="/mnt/data/pptx_extract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01" y="1280160"/>
            <a:ext cx="7653838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89660" y="5312664"/>
            <a:ext cx="10012680" cy="758531"/>
          </a:xfrm>
          <a:prstGeom prst="roundRect">
            <a:avLst>
              <a:gd name="adj" fmla="val 10667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261872" y="538581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61872" y="5696712"/>
            <a:ext cx="96926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retail food prices generally rise over the period, with visible dips and spikes that may reflect seasonality, market shocks or changes in food supply conditions.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SIGNAL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Relationship with the prediction target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pic>
        <p:nvPicPr>
          <p:cNvPr id="5" name="Image 0" descr="/mnt/data/pptx_extract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80281"/>
            <a:ext cx="5486400" cy="40974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463040"/>
            <a:ext cx="4617720" cy="1325880"/>
          </a:xfrm>
          <a:prstGeom prst="roundRect">
            <a:avLst>
              <a:gd name="adj" fmla="val 5517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93992" y="15910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regression is feasible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93992" y="1901952"/>
            <a:ext cx="4297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scatter plot shows a strong positive relationship between the current price and the next month price.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629400" y="3063240"/>
            <a:ext cx="4617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93992" y="3191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Modelling implication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93992" y="3502152"/>
            <a:ext cx="4297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price features such as current price, previous price and moving averages should be useful predictors.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6629400" y="484632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793992" y="5102352"/>
            <a:ext cx="4297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Extreme points indicate that sudden price spikes may still be difficult to predict.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models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6304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910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901952"/>
            <a:ext cx="30632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month price = current price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as a benchmark to test whether machine learning adds value.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46304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5910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Regressor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901952"/>
            <a:ext cx="30632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ML model.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non-linear patterns and mixed features well after preprocessing.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65008" y="146304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15910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Neural Network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1901952"/>
            <a:ext cx="30632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Feedforward regression model.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 satisfy the deep learning comparison requirement.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5303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metrics: MAE, RMSE and R²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evaluation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508760"/>
            <a:ext cx="2377440" cy="438912"/>
          </a:xfrm>
          <a:prstGeom prst="rect">
            <a:avLst/>
          </a:prstGeom>
          <a:solidFill>
            <a:srgbClr val="0F4B3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276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1463040" cy="438912"/>
          </a:xfrm>
          <a:prstGeom prst="rect">
            <a:avLst/>
          </a:prstGeom>
          <a:solidFill>
            <a:srgbClr val="0F4B3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27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92040" y="1508760"/>
            <a:ext cx="1645920" cy="438912"/>
          </a:xfrm>
          <a:prstGeom prst="rect">
            <a:avLst/>
          </a:prstGeom>
          <a:solidFill>
            <a:srgbClr val="0F4B3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276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37960" y="1508760"/>
            <a:ext cx="1097280" cy="438912"/>
          </a:xfrm>
          <a:prstGeom prst="rect">
            <a:avLst/>
          </a:prstGeom>
          <a:solidFill>
            <a:srgbClr val="0F4B3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27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1947672"/>
            <a:ext cx="23774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0665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29000" y="1947672"/>
            <a:ext cx="14630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0665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557.70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1947672"/>
            <a:ext cx="1645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0665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1975.42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1947672"/>
            <a:ext cx="10972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0665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0.8586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51560" y="2386584"/>
            <a:ext cx="2377440" cy="438912"/>
          </a:xfrm>
          <a:prstGeom prst="rect">
            <a:avLst/>
          </a:prstGeom>
          <a:solidFill>
            <a:srgbClr val="E8F1E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0545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29000" y="2386584"/>
            <a:ext cx="1463040" cy="438912"/>
          </a:xfrm>
          <a:prstGeom prst="rect">
            <a:avLst/>
          </a:prstGeom>
          <a:solidFill>
            <a:srgbClr val="E8F1E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5054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533.20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2386584"/>
            <a:ext cx="1645920" cy="438912"/>
          </a:xfrm>
          <a:prstGeom prst="rect">
            <a:avLst/>
          </a:prstGeom>
          <a:solidFill>
            <a:srgbClr val="E8F1E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5054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1697.70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2386584"/>
            <a:ext cx="1097280" cy="438912"/>
          </a:xfrm>
          <a:prstGeom prst="rect">
            <a:avLst/>
          </a:prstGeom>
          <a:solidFill>
            <a:srgbClr val="E8F1EA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5054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0.8955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51560" y="2825496"/>
            <a:ext cx="23774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29443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29000" y="2825496"/>
            <a:ext cx="14630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9443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691.14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2825496"/>
            <a:ext cx="1645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9443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1760.43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2825496"/>
            <a:ext cx="10972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D0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0.8877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458200" y="15087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622792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model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22792" y="1947672"/>
            <a:ext cx="22860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MAE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RMSE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R²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97280" y="4160520"/>
            <a:ext cx="9966960" cy="960120"/>
          </a:xfrm>
          <a:prstGeom prst="roundRect">
            <a:avLst>
              <a:gd name="adj" fmla="val 7619"/>
            </a:avLst>
          </a:prstGeom>
          <a:solidFill>
            <a:srgbClr val="EFE9DC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261872" y="4288536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261872" y="4599432"/>
            <a:ext cx="9646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Random Forest model outperformed the baseline and neural network. It explained approximately 89.6% of the variation in next-month retail food prices.</a:t>
            </a:r>
            <a:endParaRPr lang="en-US" sz="114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Dashboard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1390" y="1545336"/>
            <a:ext cx="29888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6089904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A1F9F60-78FB-6556-F2BA-3919FA617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6179"/>
            <a:ext cx="8208818" cy="5084881"/>
          </a:xfrm>
          <a:prstGeom prst="rect">
            <a:avLst/>
          </a:prstGeom>
        </p:spPr>
      </p:pic>
      <p:sp>
        <p:nvSpPr>
          <p:cNvPr id="36" name="Shape 22">
            <a:extLst>
              <a:ext uri="{FF2B5EF4-FFF2-40B4-BE49-F238E27FC236}">
                <a16:creationId xmlns:a16="http://schemas.microsoft.com/office/drawing/2014/main" id="{F5174F22-EC88-7BCE-25A7-48B6BACEA525}"/>
              </a:ext>
            </a:extLst>
          </p:cNvPr>
          <p:cNvSpPr/>
          <p:nvPr/>
        </p:nvSpPr>
        <p:spPr>
          <a:xfrm>
            <a:off x="8385464" y="1197864"/>
            <a:ext cx="3578529" cy="2948109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dirty="0"/>
              <a:t>This Dashboard demonstrates the relationship between the current price vs Predicted price and visualizations. It has filters and it auto refreshes every 1 minute.</a:t>
            </a:r>
          </a:p>
          <a:p>
            <a:endParaRPr lang="en-US" dirty="0"/>
          </a:p>
          <a:p>
            <a:r>
              <a:rPr lang="en-US" dirty="0"/>
              <a:t>The graphs show that food prices vary by commodity, category </a:t>
            </a:r>
            <a:r>
              <a:rPr lang="en-US"/>
              <a:t>and time.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195BD-5055-2929-6FFF-A38D3C1D3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3950AE0-D0C2-E510-DECE-C62574A52ED8}"/>
              </a:ext>
            </a:extLst>
          </p:cNvPr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interface and project repository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484030-9227-DAE6-E008-617B1FA0B991}"/>
              </a:ext>
            </a:extLst>
          </p:cNvPr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146BD22-F9AD-EB4E-9FA3-1B29F9DD857E}"/>
              </a:ext>
            </a:extLst>
          </p:cNvPr>
          <p:cNvSpPr/>
          <p:nvPr/>
        </p:nvSpPr>
        <p:spPr>
          <a:xfrm>
            <a:off x="7394170" y="1416904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F39B63C-59D4-DD6C-A248-E8B5EF1EF8C1}"/>
              </a:ext>
            </a:extLst>
          </p:cNvPr>
          <p:cNvSpPr/>
          <p:nvPr/>
        </p:nvSpPr>
        <p:spPr>
          <a:xfrm>
            <a:off x="8011390" y="1545336"/>
            <a:ext cx="29888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function</a:t>
            </a:r>
            <a:endParaRPr lang="en-US" sz="14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FCEA999-26C0-1F4A-C005-9AED1D6441A1}"/>
              </a:ext>
            </a:extLst>
          </p:cNvPr>
          <p:cNvSpPr/>
          <p:nvPr/>
        </p:nvSpPr>
        <p:spPr>
          <a:xfrm>
            <a:off x="7647708" y="1856232"/>
            <a:ext cx="38920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lets a user select a commodity and market, enter price values, and receive a next-month retail price prediction.</a:t>
            </a:r>
            <a:endParaRPr lang="en-US" sz="11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B376B78-871E-28F2-0454-526160723A4B}"/>
              </a:ext>
            </a:extLst>
          </p:cNvPr>
          <p:cNvSpPr/>
          <p:nvPr/>
        </p:nvSpPr>
        <p:spPr>
          <a:xfrm>
            <a:off x="7422018" y="3044744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F5E5D47-9FE9-5817-FC93-3A0B2AAE60B6}"/>
              </a:ext>
            </a:extLst>
          </p:cNvPr>
          <p:cNvSpPr/>
          <p:nvPr/>
        </p:nvSpPr>
        <p:spPr>
          <a:xfrm>
            <a:off x="8136082" y="3200400"/>
            <a:ext cx="330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1582D9F-7650-6C9B-0D52-10EDEB4A21E4}"/>
              </a:ext>
            </a:extLst>
          </p:cNvPr>
          <p:cNvSpPr/>
          <p:nvPr/>
        </p:nvSpPr>
        <p:spPr>
          <a:xfrm>
            <a:off x="7516368" y="3484072"/>
            <a:ext cx="40233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github.com/floCarlee/Uganda_Food_Price_Prediction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notebooks, data, model, app, figures and presentation.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F1151DC-A528-5146-EF48-DA3B1BC20174}"/>
              </a:ext>
            </a:extLst>
          </p:cNvPr>
          <p:cNvSpPr/>
          <p:nvPr/>
        </p:nvSpPr>
        <p:spPr>
          <a:xfrm>
            <a:off x="594360" y="6089904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31" name="Slide Number Placeholder 0">
            <a:extLst>
              <a:ext uri="{FF2B5EF4-FFF2-40B4-BE49-F238E27FC236}">
                <a16:creationId xmlns:a16="http://schemas.microsoft.com/office/drawing/2014/main" id="{69BFE331-9BBE-A5CD-7C71-9620ABF680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0E6CCF-C1B1-204C-700D-8E204ADCD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" y="1238586"/>
            <a:ext cx="7286520" cy="407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50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conclusion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14400" cy="0"/>
          </a:xfrm>
          <a:prstGeom prst="line">
            <a:avLst/>
          </a:prstGeom>
          <a:noFill/>
          <a:ln w="38100">
            <a:solidFill>
              <a:srgbClr val="176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453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484632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model does not include external drivers such as rainfall, fuel prices, exchange rates, inflation, transport costs, harvest seasons, conflict or supply disruptions.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factors may explain sudden price movements that the model cannot fully capture.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E8F1EA"/>
          </a:solidFill>
          <a:ln w="12700">
            <a:solidFill>
              <a:srgbClr val="D8D0BF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15453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8232" y="1856232"/>
            <a:ext cx="484632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successfully built an end-to-end ML pipeline for Uganda retail food price prediction.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was selected as the final model with an R² score of 0.8955.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243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demonstrates cleaning, feature engineering, EDA, modelling, evaluation, GitHub documentation and a working demo.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777240" y="5349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Work: combine price data with weather, fuel, inflation and exchange-rate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F6A5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4307</TotalTime>
  <Words>1161</Words>
  <Application>Microsoft Macintosh PowerPoint</Application>
  <PresentationFormat>Widescreen</PresentationFormat>
  <Paragraphs>220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Data Engineering and Analytics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Retail Food Prices in Ugandan Markets Using WFP Market Price Data</dc:title>
  <dc:subject>Uganda Retail Food Price Prediction</dc:subject>
  <dc:creator>Florence Kemigisha</dc:creator>
  <cp:keywords/>
  <dc:description/>
  <cp:lastModifiedBy>Flo</cp:lastModifiedBy>
  <cp:revision>15</cp:revision>
  <dcterms:created xsi:type="dcterms:W3CDTF">2026-08-08T09:42:26Z</dcterms:created>
  <dcterms:modified xsi:type="dcterms:W3CDTF">2026-08-11T09:32:27Z</dcterms:modified>
  <cp:category/>
</cp:coreProperties>
</file>