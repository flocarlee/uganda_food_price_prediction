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3" r:id="rId8"/>
    <p:sldId id="265" r:id="rId9"/>
    <p:sldId id="266" r:id="rId10"/>
    <p:sldId id="267" r:id="rId11"/>
    <p:sldId id="268" r:id="rId12"/>
    <p:sldId id="270"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94688"/>
  </p:normalViewPr>
  <p:slideViewPr>
    <p:cSldViewPr snapToGrid="0">
      <p:cViewPr varScale="1">
        <p:scale>
          <a:sx n="116" d="100"/>
          <a:sy n="116" d="100"/>
        </p:scale>
        <p:origin x="60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5DBA5-87FF-7ECB-4E82-3BEDCD495A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B106001-6191-203A-1D6C-79A321256F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3D34A7-8426-0977-28D4-D075D4615AA1}"/>
              </a:ext>
            </a:extLst>
          </p:cNvPr>
          <p:cNvSpPr>
            <a:spLocks noGrp="1"/>
          </p:cNvSpPr>
          <p:nvPr>
            <p:ph type="dt" sz="half" idx="10"/>
          </p:nvPr>
        </p:nvSpPr>
        <p:spPr/>
        <p:txBody>
          <a:bodyPr/>
          <a:lstStyle/>
          <a:p>
            <a:fld id="{DFABF107-218B-9E43-ACB2-274ECF7DAFA8}" type="datetimeFigureOut">
              <a:rPr lang="en-US" smtClean="0"/>
              <a:t>8/8/26</a:t>
            </a:fld>
            <a:endParaRPr lang="en-US"/>
          </a:p>
        </p:txBody>
      </p:sp>
      <p:sp>
        <p:nvSpPr>
          <p:cNvPr id="5" name="Footer Placeholder 4">
            <a:extLst>
              <a:ext uri="{FF2B5EF4-FFF2-40B4-BE49-F238E27FC236}">
                <a16:creationId xmlns:a16="http://schemas.microsoft.com/office/drawing/2014/main" id="{FEDA8D26-780D-D906-8301-7F68CD51CC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67DB73-18A1-DA13-76C3-B5E37AE270BA}"/>
              </a:ext>
            </a:extLst>
          </p:cNvPr>
          <p:cNvSpPr>
            <a:spLocks noGrp="1"/>
          </p:cNvSpPr>
          <p:nvPr>
            <p:ph type="sldNum" sz="quarter" idx="12"/>
          </p:nvPr>
        </p:nvSpPr>
        <p:spPr/>
        <p:txBody>
          <a:bodyPr/>
          <a:lstStyle/>
          <a:p>
            <a:fld id="{2C37228B-40AC-7D4D-9F06-865993E88AAF}" type="slidenum">
              <a:rPr lang="en-US" smtClean="0"/>
              <a:t>‹#›</a:t>
            </a:fld>
            <a:endParaRPr lang="en-US"/>
          </a:p>
        </p:txBody>
      </p:sp>
    </p:spTree>
    <p:extLst>
      <p:ext uri="{BB962C8B-B14F-4D97-AF65-F5344CB8AC3E}">
        <p14:creationId xmlns:p14="http://schemas.microsoft.com/office/powerpoint/2010/main" val="3865676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16E93-FD37-74F0-32A7-505E182962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275D70-97EA-0259-E46E-C34DBE083F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6C7313-DB51-C6BC-2CAD-C73E7B122478}"/>
              </a:ext>
            </a:extLst>
          </p:cNvPr>
          <p:cNvSpPr>
            <a:spLocks noGrp="1"/>
          </p:cNvSpPr>
          <p:nvPr>
            <p:ph type="dt" sz="half" idx="10"/>
          </p:nvPr>
        </p:nvSpPr>
        <p:spPr/>
        <p:txBody>
          <a:bodyPr/>
          <a:lstStyle/>
          <a:p>
            <a:fld id="{DFABF107-218B-9E43-ACB2-274ECF7DAFA8}" type="datetimeFigureOut">
              <a:rPr lang="en-US" smtClean="0"/>
              <a:t>8/8/26</a:t>
            </a:fld>
            <a:endParaRPr lang="en-US"/>
          </a:p>
        </p:txBody>
      </p:sp>
      <p:sp>
        <p:nvSpPr>
          <p:cNvPr id="5" name="Footer Placeholder 4">
            <a:extLst>
              <a:ext uri="{FF2B5EF4-FFF2-40B4-BE49-F238E27FC236}">
                <a16:creationId xmlns:a16="http://schemas.microsoft.com/office/drawing/2014/main" id="{3054D227-1F40-AFE7-01E8-887B4BAE39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2FC4DE-6D00-77B8-A44E-C186AB2202CA}"/>
              </a:ext>
            </a:extLst>
          </p:cNvPr>
          <p:cNvSpPr>
            <a:spLocks noGrp="1"/>
          </p:cNvSpPr>
          <p:nvPr>
            <p:ph type="sldNum" sz="quarter" idx="12"/>
          </p:nvPr>
        </p:nvSpPr>
        <p:spPr/>
        <p:txBody>
          <a:bodyPr/>
          <a:lstStyle/>
          <a:p>
            <a:fld id="{2C37228B-40AC-7D4D-9F06-865993E88AAF}" type="slidenum">
              <a:rPr lang="en-US" smtClean="0"/>
              <a:t>‹#›</a:t>
            </a:fld>
            <a:endParaRPr lang="en-US"/>
          </a:p>
        </p:txBody>
      </p:sp>
    </p:spTree>
    <p:extLst>
      <p:ext uri="{BB962C8B-B14F-4D97-AF65-F5344CB8AC3E}">
        <p14:creationId xmlns:p14="http://schemas.microsoft.com/office/powerpoint/2010/main" val="333383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B793C-44A8-2180-17B7-A88F633D3C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9480CA-0FB4-6752-4433-D08594C0790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286E4A-37C4-FBCB-D256-5E9568AE04B4}"/>
              </a:ext>
            </a:extLst>
          </p:cNvPr>
          <p:cNvSpPr>
            <a:spLocks noGrp="1"/>
          </p:cNvSpPr>
          <p:nvPr>
            <p:ph type="dt" sz="half" idx="10"/>
          </p:nvPr>
        </p:nvSpPr>
        <p:spPr/>
        <p:txBody>
          <a:bodyPr/>
          <a:lstStyle/>
          <a:p>
            <a:fld id="{DFABF107-218B-9E43-ACB2-274ECF7DAFA8}" type="datetimeFigureOut">
              <a:rPr lang="en-US" smtClean="0"/>
              <a:t>8/8/26</a:t>
            </a:fld>
            <a:endParaRPr lang="en-US"/>
          </a:p>
        </p:txBody>
      </p:sp>
      <p:sp>
        <p:nvSpPr>
          <p:cNvPr id="5" name="Footer Placeholder 4">
            <a:extLst>
              <a:ext uri="{FF2B5EF4-FFF2-40B4-BE49-F238E27FC236}">
                <a16:creationId xmlns:a16="http://schemas.microsoft.com/office/drawing/2014/main" id="{A0B92062-0C1A-BE94-B26E-3F12D19354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679ED4-CBB5-79F2-ABC7-CF5A792B56DF}"/>
              </a:ext>
            </a:extLst>
          </p:cNvPr>
          <p:cNvSpPr>
            <a:spLocks noGrp="1"/>
          </p:cNvSpPr>
          <p:nvPr>
            <p:ph type="sldNum" sz="quarter" idx="12"/>
          </p:nvPr>
        </p:nvSpPr>
        <p:spPr/>
        <p:txBody>
          <a:bodyPr/>
          <a:lstStyle/>
          <a:p>
            <a:fld id="{2C37228B-40AC-7D4D-9F06-865993E88AAF}" type="slidenum">
              <a:rPr lang="en-US" smtClean="0"/>
              <a:t>‹#›</a:t>
            </a:fld>
            <a:endParaRPr lang="en-US"/>
          </a:p>
        </p:txBody>
      </p:sp>
    </p:spTree>
    <p:extLst>
      <p:ext uri="{BB962C8B-B14F-4D97-AF65-F5344CB8AC3E}">
        <p14:creationId xmlns:p14="http://schemas.microsoft.com/office/powerpoint/2010/main" val="417235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93CBB-2C61-80A9-25A2-53823F0402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D39F23-7FD7-B660-678B-0114C8F69F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BAA804-69CA-94E1-D395-99ED12974B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CF3EB2-F11B-47F4-5C7D-BEB85C7A290F}"/>
              </a:ext>
            </a:extLst>
          </p:cNvPr>
          <p:cNvSpPr>
            <a:spLocks noGrp="1"/>
          </p:cNvSpPr>
          <p:nvPr>
            <p:ph type="dt" sz="half" idx="10"/>
          </p:nvPr>
        </p:nvSpPr>
        <p:spPr/>
        <p:txBody>
          <a:bodyPr/>
          <a:lstStyle/>
          <a:p>
            <a:fld id="{DFABF107-218B-9E43-ACB2-274ECF7DAFA8}" type="datetimeFigureOut">
              <a:rPr lang="en-US" smtClean="0"/>
              <a:t>8/8/26</a:t>
            </a:fld>
            <a:endParaRPr lang="en-US"/>
          </a:p>
        </p:txBody>
      </p:sp>
      <p:sp>
        <p:nvSpPr>
          <p:cNvPr id="6" name="Footer Placeholder 5">
            <a:extLst>
              <a:ext uri="{FF2B5EF4-FFF2-40B4-BE49-F238E27FC236}">
                <a16:creationId xmlns:a16="http://schemas.microsoft.com/office/drawing/2014/main" id="{C5F45791-41EB-2261-BF57-761C59CF29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AD91D6-F6FA-9B22-9AA1-26396A555A74}"/>
              </a:ext>
            </a:extLst>
          </p:cNvPr>
          <p:cNvSpPr>
            <a:spLocks noGrp="1"/>
          </p:cNvSpPr>
          <p:nvPr>
            <p:ph type="sldNum" sz="quarter" idx="12"/>
          </p:nvPr>
        </p:nvSpPr>
        <p:spPr/>
        <p:txBody>
          <a:bodyPr/>
          <a:lstStyle/>
          <a:p>
            <a:fld id="{2C37228B-40AC-7D4D-9F06-865993E88AAF}" type="slidenum">
              <a:rPr lang="en-US" smtClean="0"/>
              <a:t>‹#›</a:t>
            </a:fld>
            <a:endParaRPr lang="en-US"/>
          </a:p>
        </p:txBody>
      </p:sp>
    </p:spTree>
    <p:extLst>
      <p:ext uri="{BB962C8B-B14F-4D97-AF65-F5344CB8AC3E}">
        <p14:creationId xmlns:p14="http://schemas.microsoft.com/office/powerpoint/2010/main" val="1814564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07713-CDD2-C764-1987-9717BBAB1E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A494B0E-0FCC-2FEA-0ABB-7B14301CA0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6922A0-CFA1-21F6-FBC4-F109B4CD0C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EE814D-46E1-C1F5-CC6F-AB9402B198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6F28CB-0103-E6C7-88E4-FEE73B8338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53F2D9-DC20-67BA-A948-E89660975CB7}"/>
              </a:ext>
            </a:extLst>
          </p:cNvPr>
          <p:cNvSpPr>
            <a:spLocks noGrp="1"/>
          </p:cNvSpPr>
          <p:nvPr>
            <p:ph type="dt" sz="half" idx="10"/>
          </p:nvPr>
        </p:nvSpPr>
        <p:spPr/>
        <p:txBody>
          <a:bodyPr/>
          <a:lstStyle/>
          <a:p>
            <a:fld id="{DFABF107-218B-9E43-ACB2-274ECF7DAFA8}" type="datetimeFigureOut">
              <a:rPr lang="en-US" smtClean="0"/>
              <a:t>8/8/26</a:t>
            </a:fld>
            <a:endParaRPr lang="en-US"/>
          </a:p>
        </p:txBody>
      </p:sp>
      <p:sp>
        <p:nvSpPr>
          <p:cNvPr id="8" name="Footer Placeholder 7">
            <a:extLst>
              <a:ext uri="{FF2B5EF4-FFF2-40B4-BE49-F238E27FC236}">
                <a16:creationId xmlns:a16="http://schemas.microsoft.com/office/drawing/2014/main" id="{97685588-01CC-2B47-5E9E-9FDC7290D66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CB628AE-29E1-F068-4046-5DAAA18679B4}"/>
              </a:ext>
            </a:extLst>
          </p:cNvPr>
          <p:cNvSpPr>
            <a:spLocks noGrp="1"/>
          </p:cNvSpPr>
          <p:nvPr>
            <p:ph type="sldNum" sz="quarter" idx="12"/>
          </p:nvPr>
        </p:nvSpPr>
        <p:spPr/>
        <p:txBody>
          <a:bodyPr/>
          <a:lstStyle/>
          <a:p>
            <a:fld id="{2C37228B-40AC-7D4D-9F06-865993E88AAF}" type="slidenum">
              <a:rPr lang="en-US" smtClean="0"/>
              <a:t>‹#›</a:t>
            </a:fld>
            <a:endParaRPr lang="en-US"/>
          </a:p>
        </p:txBody>
      </p:sp>
    </p:spTree>
    <p:extLst>
      <p:ext uri="{BB962C8B-B14F-4D97-AF65-F5344CB8AC3E}">
        <p14:creationId xmlns:p14="http://schemas.microsoft.com/office/powerpoint/2010/main" val="2854186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61003-66FD-430F-2A68-C10D43F915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B28860A-D26F-A755-0B38-B4DDFDE1FE65}"/>
              </a:ext>
            </a:extLst>
          </p:cNvPr>
          <p:cNvSpPr>
            <a:spLocks noGrp="1"/>
          </p:cNvSpPr>
          <p:nvPr>
            <p:ph type="dt" sz="half" idx="10"/>
          </p:nvPr>
        </p:nvSpPr>
        <p:spPr/>
        <p:txBody>
          <a:bodyPr/>
          <a:lstStyle/>
          <a:p>
            <a:fld id="{DFABF107-218B-9E43-ACB2-274ECF7DAFA8}" type="datetimeFigureOut">
              <a:rPr lang="en-US" smtClean="0"/>
              <a:t>8/8/26</a:t>
            </a:fld>
            <a:endParaRPr lang="en-US"/>
          </a:p>
        </p:txBody>
      </p:sp>
      <p:sp>
        <p:nvSpPr>
          <p:cNvPr id="4" name="Footer Placeholder 3">
            <a:extLst>
              <a:ext uri="{FF2B5EF4-FFF2-40B4-BE49-F238E27FC236}">
                <a16:creationId xmlns:a16="http://schemas.microsoft.com/office/drawing/2014/main" id="{6DCDF5C2-4423-A551-D358-BC6352470AF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1983426-EF34-9BCD-9FDE-7853C5EE7DDB}"/>
              </a:ext>
            </a:extLst>
          </p:cNvPr>
          <p:cNvSpPr>
            <a:spLocks noGrp="1"/>
          </p:cNvSpPr>
          <p:nvPr>
            <p:ph type="sldNum" sz="quarter" idx="12"/>
          </p:nvPr>
        </p:nvSpPr>
        <p:spPr/>
        <p:txBody>
          <a:bodyPr/>
          <a:lstStyle/>
          <a:p>
            <a:fld id="{2C37228B-40AC-7D4D-9F06-865993E88AAF}" type="slidenum">
              <a:rPr lang="en-US" smtClean="0"/>
              <a:t>‹#›</a:t>
            </a:fld>
            <a:endParaRPr lang="en-US"/>
          </a:p>
        </p:txBody>
      </p:sp>
    </p:spTree>
    <p:extLst>
      <p:ext uri="{BB962C8B-B14F-4D97-AF65-F5344CB8AC3E}">
        <p14:creationId xmlns:p14="http://schemas.microsoft.com/office/powerpoint/2010/main" val="2856445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B7DACA-C0F0-384D-46F9-22537A6D746A}"/>
              </a:ext>
            </a:extLst>
          </p:cNvPr>
          <p:cNvSpPr>
            <a:spLocks noGrp="1"/>
          </p:cNvSpPr>
          <p:nvPr>
            <p:ph type="dt" sz="half" idx="10"/>
          </p:nvPr>
        </p:nvSpPr>
        <p:spPr/>
        <p:txBody>
          <a:bodyPr/>
          <a:lstStyle/>
          <a:p>
            <a:fld id="{DFABF107-218B-9E43-ACB2-274ECF7DAFA8}" type="datetimeFigureOut">
              <a:rPr lang="en-US" smtClean="0"/>
              <a:t>8/8/26</a:t>
            </a:fld>
            <a:endParaRPr lang="en-US"/>
          </a:p>
        </p:txBody>
      </p:sp>
      <p:sp>
        <p:nvSpPr>
          <p:cNvPr id="3" name="Footer Placeholder 2">
            <a:extLst>
              <a:ext uri="{FF2B5EF4-FFF2-40B4-BE49-F238E27FC236}">
                <a16:creationId xmlns:a16="http://schemas.microsoft.com/office/drawing/2014/main" id="{90200AA1-A89C-E381-7BE9-34DB6B4C01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E2CB5CB-165D-53FF-E0BE-E3F027E64866}"/>
              </a:ext>
            </a:extLst>
          </p:cNvPr>
          <p:cNvSpPr>
            <a:spLocks noGrp="1"/>
          </p:cNvSpPr>
          <p:nvPr>
            <p:ph type="sldNum" sz="quarter" idx="12"/>
          </p:nvPr>
        </p:nvSpPr>
        <p:spPr/>
        <p:txBody>
          <a:bodyPr/>
          <a:lstStyle/>
          <a:p>
            <a:fld id="{2C37228B-40AC-7D4D-9F06-865993E88AAF}" type="slidenum">
              <a:rPr lang="en-US" smtClean="0"/>
              <a:t>‹#›</a:t>
            </a:fld>
            <a:endParaRPr lang="en-US"/>
          </a:p>
        </p:txBody>
      </p:sp>
    </p:spTree>
    <p:extLst>
      <p:ext uri="{BB962C8B-B14F-4D97-AF65-F5344CB8AC3E}">
        <p14:creationId xmlns:p14="http://schemas.microsoft.com/office/powerpoint/2010/main" val="2302905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E215-091D-0A72-6655-3A92A9B970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79E73F-9E24-2189-C3F6-03883B7765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159932-C3EF-F8FF-7968-07D2125824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949667-D39D-9ADB-3208-2D47DDDCA5F5}"/>
              </a:ext>
            </a:extLst>
          </p:cNvPr>
          <p:cNvSpPr>
            <a:spLocks noGrp="1"/>
          </p:cNvSpPr>
          <p:nvPr>
            <p:ph type="dt" sz="half" idx="10"/>
          </p:nvPr>
        </p:nvSpPr>
        <p:spPr/>
        <p:txBody>
          <a:bodyPr/>
          <a:lstStyle/>
          <a:p>
            <a:fld id="{DFABF107-218B-9E43-ACB2-274ECF7DAFA8}" type="datetimeFigureOut">
              <a:rPr lang="en-US" smtClean="0"/>
              <a:t>8/8/26</a:t>
            </a:fld>
            <a:endParaRPr lang="en-US"/>
          </a:p>
        </p:txBody>
      </p:sp>
      <p:sp>
        <p:nvSpPr>
          <p:cNvPr id="6" name="Footer Placeholder 5">
            <a:extLst>
              <a:ext uri="{FF2B5EF4-FFF2-40B4-BE49-F238E27FC236}">
                <a16:creationId xmlns:a16="http://schemas.microsoft.com/office/drawing/2014/main" id="{2F66015E-D2DD-0009-5A4E-F6F82D91AF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79A63D-A809-FFE7-72DF-5D4E1EA74FBE}"/>
              </a:ext>
            </a:extLst>
          </p:cNvPr>
          <p:cNvSpPr>
            <a:spLocks noGrp="1"/>
          </p:cNvSpPr>
          <p:nvPr>
            <p:ph type="sldNum" sz="quarter" idx="12"/>
          </p:nvPr>
        </p:nvSpPr>
        <p:spPr/>
        <p:txBody>
          <a:bodyPr/>
          <a:lstStyle/>
          <a:p>
            <a:fld id="{2C37228B-40AC-7D4D-9F06-865993E88AAF}" type="slidenum">
              <a:rPr lang="en-US" smtClean="0"/>
              <a:t>‹#›</a:t>
            </a:fld>
            <a:endParaRPr lang="en-US"/>
          </a:p>
        </p:txBody>
      </p:sp>
    </p:spTree>
    <p:extLst>
      <p:ext uri="{BB962C8B-B14F-4D97-AF65-F5344CB8AC3E}">
        <p14:creationId xmlns:p14="http://schemas.microsoft.com/office/powerpoint/2010/main" val="1507566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677F5-5B7C-F569-2386-2D04CBFC82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8A7D93-F98A-68C0-37E3-FF8A1747E4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116C424-37C4-714B-C32B-DD4F2EA630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228E5F-F8CD-599E-E76B-ECF56080B095}"/>
              </a:ext>
            </a:extLst>
          </p:cNvPr>
          <p:cNvSpPr>
            <a:spLocks noGrp="1"/>
          </p:cNvSpPr>
          <p:nvPr>
            <p:ph type="dt" sz="half" idx="10"/>
          </p:nvPr>
        </p:nvSpPr>
        <p:spPr/>
        <p:txBody>
          <a:bodyPr/>
          <a:lstStyle/>
          <a:p>
            <a:fld id="{DFABF107-218B-9E43-ACB2-274ECF7DAFA8}" type="datetimeFigureOut">
              <a:rPr lang="en-US" smtClean="0"/>
              <a:t>8/8/26</a:t>
            </a:fld>
            <a:endParaRPr lang="en-US"/>
          </a:p>
        </p:txBody>
      </p:sp>
      <p:sp>
        <p:nvSpPr>
          <p:cNvPr id="6" name="Footer Placeholder 5">
            <a:extLst>
              <a:ext uri="{FF2B5EF4-FFF2-40B4-BE49-F238E27FC236}">
                <a16:creationId xmlns:a16="http://schemas.microsoft.com/office/drawing/2014/main" id="{0DFE88AD-1F58-C2B3-F6D8-7F1A7AF439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F87BE8-377A-471A-EF9E-B2407A7000C6}"/>
              </a:ext>
            </a:extLst>
          </p:cNvPr>
          <p:cNvSpPr>
            <a:spLocks noGrp="1"/>
          </p:cNvSpPr>
          <p:nvPr>
            <p:ph type="sldNum" sz="quarter" idx="12"/>
          </p:nvPr>
        </p:nvSpPr>
        <p:spPr/>
        <p:txBody>
          <a:bodyPr/>
          <a:lstStyle/>
          <a:p>
            <a:fld id="{2C37228B-40AC-7D4D-9F06-865993E88AAF}" type="slidenum">
              <a:rPr lang="en-US" smtClean="0"/>
              <a:t>‹#›</a:t>
            </a:fld>
            <a:endParaRPr lang="en-US"/>
          </a:p>
        </p:txBody>
      </p:sp>
    </p:spTree>
    <p:extLst>
      <p:ext uri="{BB962C8B-B14F-4D97-AF65-F5344CB8AC3E}">
        <p14:creationId xmlns:p14="http://schemas.microsoft.com/office/powerpoint/2010/main" val="4269809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7D193-470E-086B-1581-88AEF386CC4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49DB5B-EC35-6371-7D19-009E071773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76DFC6-050A-5072-1012-AA28696A3718}"/>
              </a:ext>
            </a:extLst>
          </p:cNvPr>
          <p:cNvSpPr>
            <a:spLocks noGrp="1"/>
          </p:cNvSpPr>
          <p:nvPr>
            <p:ph type="dt" sz="half" idx="10"/>
          </p:nvPr>
        </p:nvSpPr>
        <p:spPr/>
        <p:txBody>
          <a:bodyPr/>
          <a:lstStyle/>
          <a:p>
            <a:fld id="{DFABF107-218B-9E43-ACB2-274ECF7DAFA8}" type="datetimeFigureOut">
              <a:rPr lang="en-US" smtClean="0"/>
              <a:t>8/8/26</a:t>
            </a:fld>
            <a:endParaRPr lang="en-US"/>
          </a:p>
        </p:txBody>
      </p:sp>
      <p:sp>
        <p:nvSpPr>
          <p:cNvPr id="5" name="Footer Placeholder 4">
            <a:extLst>
              <a:ext uri="{FF2B5EF4-FFF2-40B4-BE49-F238E27FC236}">
                <a16:creationId xmlns:a16="http://schemas.microsoft.com/office/drawing/2014/main" id="{D25BD18F-5944-1ED6-168B-877497FE45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8AB9D5-0AD7-6091-3215-40779F8FDD66}"/>
              </a:ext>
            </a:extLst>
          </p:cNvPr>
          <p:cNvSpPr>
            <a:spLocks noGrp="1"/>
          </p:cNvSpPr>
          <p:nvPr>
            <p:ph type="sldNum" sz="quarter" idx="12"/>
          </p:nvPr>
        </p:nvSpPr>
        <p:spPr/>
        <p:txBody>
          <a:bodyPr/>
          <a:lstStyle/>
          <a:p>
            <a:fld id="{2C37228B-40AC-7D4D-9F06-865993E88AAF}" type="slidenum">
              <a:rPr lang="en-US" smtClean="0"/>
              <a:t>‹#›</a:t>
            </a:fld>
            <a:endParaRPr lang="en-US"/>
          </a:p>
        </p:txBody>
      </p:sp>
    </p:spTree>
    <p:extLst>
      <p:ext uri="{BB962C8B-B14F-4D97-AF65-F5344CB8AC3E}">
        <p14:creationId xmlns:p14="http://schemas.microsoft.com/office/powerpoint/2010/main" val="2278652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D02DC3-2D6F-5783-D552-463CC3C23A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F4B4BD-9333-0751-64F3-934FE9E756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475042-342C-E3E8-30CD-E775BED1CA10}"/>
              </a:ext>
            </a:extLst>
          </p:cNvPr>
          <p:cNvSpPr>
            <a:spLocks noGrp="1"/>
          </p:cNvSpPr>
          <p:nvPr>
            <p:ph type="dt" sz="half" idx="10"/>
          </p:nvPr>
        </p:nvSpPr>
        <p:spPr/>
        <p:txBody>
          <a:bodyPr/>
          <a:lstStyle/>
          <a:p>
            <a:fld id="{DFABF107-218B-9E43-ACB2-274ECF7DAFA8}" type="datetimeFigureOut">
              <a:rPr lang="en-US" smtClean="0"/>
              <a:t>8/8/26</a:t>
            </a:fld>
            <a:endParaRPr lang="en-US"/>
          </a:p>
        </p:txBody>
      </p:sp>
      <p:sp>
        <p:nvSpPr>
          <p:cNvPr id="5" name="Footer Placeholder 4">
            <a:extLst>
              <a:ext uri="{FF2B5EF4-FFF2-40B4-BE49-F238E27FC236}">
                <a16:creationId xmlns:a16="http://schemas.microsoft.com/office/drawing/2014/main" id="{0273806E-EB1A-DD1B-E0A9-2B6B6C4370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1EDAE-DA66-A765-52B5-DC00CF906477}"/>
              </a:ext>
            </a:extLst>
          </p:cNvPr>
          <p:cNvSpPr>
            <a:spLocks noGrp="1"/>
          </p:cNvSpPr>
          <p:nvPr>
            <p:ph type="sldNum" sz="quarter" idx="12"/>
          </p:nvPr>
        </p:nvSpPr>
        <p:spPr/>
        <p:txBody>
          <a:bodyPr/>
          <a:lstStyle/>
          <a:p>
            <a:fld id="{2C37228B-40AC-7D4D-9F06-865993E88AAF}" type="slidenum">
              <a:rPr lang="en-US" smtClean="0"/>
              <a:t>‹#›</a:t>
            </a:fld>
            <a:endParaRPr lang="en-US"/>
          </a:p>
        </p:txBody>
      </p:sp>
    </p:spTree>
    <p:extLst>
      <p:ext uri="{BB962C8B-B14F-4D97-AF65-F5344CB8AC3E}">
        <p14:creationId xmlns:p14="http://schemas.microsoft.com/office/powerpoint/2010/main" val="2238581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6FDC06-1B8D-1130-2BE5-8BC9EF6FF0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E4EF02-0EAA-77F1-34A9-8B2974B03C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2BA4D1-F8D0-6997-D77B-7946AB149A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FABF107-218B-9E43-ACB2-274ECF7DAFA8}" type="datetimeFigureOut">
              <a:rPr lang="en-US" smtClean="0"/>
              <a:t>8/8/26</a:t>
            </a:fld>
            <a:endParaRPr lang="en-US"/>
          </a:p>
        </p:txBody>
      </p:sp>
      <p:sp>
        <p:nvSpPr>
          <p:cNvPr id="5" name="Footer Placeholder 4">
            <a:extLst>
              <a:ext uri="{FF2B5EF4-FFF2-40B4-BE49-F238E27FC236}">
                <a16:creationId xmlns:a16="http://schemas.microsoft.com/office/drawing/2014/main" id="{4678B65E-5CE8-A1F8-8A07-5144DDE60B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0C307DE-0C65-67A9-0D23-6630AD9D4B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37228B-40AC-7D4D-9F06-865993E88AAF}" type="slidenum">
              <a:rPr lang="en-US" smtClean="0"/>
              <a:t>‹#›</a:t>
            </a:fld>
            <a:endParaRPr lang="en-US"/>
          </a:p>
        </p:txBody>
      </p:sp>
    </p:spTree>
    <p:extLst>
      <p:ext uri="{BB962C8B-B14F-4D97-AF65-F5344CB8AC3E}">
        <p14:creationId xmlns:p14="http://schemas.microsoft.com/office/powerpoint/2010/main" val="8656091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669F9-8F74-E3A6-DEEC-DC5C0B25B89D}"/>
              </a:ext>
            </a:extLst>
          </p:cNvPr>
          <p:cNvSpPr>
            <a:spLocks noGrp="1"/>
          </p:cNvSpPr>
          <p:nvPr>
            <p:ph type="ctrTitle"/>
          </p:nvPr>
        </p:nvSpPr>
        <p:spPr/>
        <p:txBody>
          <a:bodyPr>
            <a:normAutofit fontScale="90000"/>
          </a:bodyPr>
          <a:lstStyle/>
          <a:p>
            <a:r>
              <a:rPr lang="en-US" dirty="0"/>
              <a:t>Predicting Retail Food Prices in Ugandan Markets Using WFP Market Price Data</a:t>
            </a:r>
          </a:p>
        </p:txBody>
      </p:sp>
      <p:sp>
        <p:nvSpPr>
          <p:cNvPr id="3" name="Subtitle 2">
            <a:extLst>
              <a:ext uri="{FF2B5EF4-FFF2-40B4-BE49-F238E27FC236}">
                <a16:creationId xmlns:a16="http://schemas.microsoft.com/office/drawing/2014/main" id="{B6A056B5-E8B5-EEE7-E7EC-FE70B68F0E58}"/>
              </a:ext>
            </a:extLst>
          </p:cNvPr>
          <p:cNvSpPr>
            <a:spLocks noGrp="1"/>
          </p:cNvSpPr>
          <p:nvPr>
            <p:ph type="subTitle" idx="1"/>
          </p:nvPr>
        </p:nvSpPr>
        <p:spPr/>
        <p:txBody>
          <a:bodyPr/>
          <a:lstStyle/>
          <a:p>
            <a:r>
              <a:rPr lang="en-US" dirty="0"/>
              <a:t>Name: Florence Kemigisha</a:t>
            </a:r>
          </a:p>
          <a:p>
            <a:r>
              <a:rPr lang="en-US" dirty="0"/>
              <a:t>Course: Data Engineering and Analytics</a:t>
            </a:r>
          </a:p>
          <a:p>
            <a:r>
              <a:rPr lang="en-US" dirty="0"/>
              <a:t>Date: 13</a:t>
            </a:r>
            <a:r>
              <a:rPr lang="en-US" baseline="30000" dirty="0"/>
              <a:t>th</a:t>
            </a:r>
            <a:r>
              <a:rPr lang="en-US" dirty="0"/>
              <a:t> August, 2026</a:t>
            </a:r>
          </a:p>
        </p:txBody>
      </p:sp>
    </p:spTree>
    <p:extLst>
      <p:ext uri="{BB962C8B-B14F-4D97-AF65-F5344CB8AC3E}">
        <p14:creationId xmlns:p14="http://schemas.microsoft.com/office/powerpoint/2010/main" val="3330358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CBFFD-0528-3FDB-DC45-1A7C586684EA}"/>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5DF58DF6-EB3B-5BB8-92ED-A9AACC1973A4}"/>
              </a:ext>
            </a:extLst>
          </p:cNvPr>
          <p:cNvSpPr>
            <a:spLocks noGrp="1"/>
          </p:cNvSpPr>
          <p:nvPr>
            <p:ph idx="1"/>
          </p:nvPr>
        </p:nvSpPr>
        <p:spPr/>
        <p:txBody>
          <a:bodyPr/>
          <a:lstStyle/>
          <a:p>
            <a:r>
              <a:rPr lang="en-US" dirty="0"/>
              <a:t>Food prices in Uganda change over time due to market conditions, seasonality, inflation, supply factors, and location differences. These changes affect household purchasing power and food security.</a:t>
            </a:r>
          </a:p>
          <a:p>
            <a:endParaRPr lang="en-US" dirty="0"/>
          </a:p>
          <a:p>
            <a:r>
              <a:rPr lang="en-US" dirty="0"/>
              <a:t>This project aims to build a machine learning regression model that predicts the next month retail food price of a commodity in the Ugandan market.</a:t>
            </a:r>
          </a:p>
        </p:txBody>
      </p:sp>
    </p:spTree>
    <p:extLst>
      <p:ext uri="{BB962C8B-B14F-4D97-AF65-F5344CB8AC3E}">
        <p14:creationId xmlns:p14="http://schemas.microsoft.com/office/powerpoint/2010/main" val="3812362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CB88C-2139-E0B0-EB67-1D5383C89202}"/>
              </a:ext>
            </a:extLst>
          </p:cNvPr>
          <p:cNvSpPr>
            <a:spLocks noGrp="1"/>
          </p:cNvSpPr>
          <p:nvPr>
            <p:ph type="title"/>
          </p:nvPr>
        </p:nvSpPr>
        <p:spPr/>
        <p:txBody>
          <a:bodyPr/>
          <a:lstStyle/>
          <a:p>
            <a:r>
              <a:rPr lang="en-US" dirty="0"/>
              <a:t>Data Description</a:t>
            </a:r>
          </a:p>
        </p:txBody>
      </p:sp>
      <p:graphicFrame>
        <p:nvGraphicFramePr>
          <p:cNvPr id="4" name="Content Placeholder 3">
            <a:extLst>
              <a:ext uri="{FF2B5EF4-FFF2-40B4-BE49-F238E27FC236}">
                <a16:creationId xmlns:a16="http://schemas.microsoft.com/office/drawing/2014/main" id="{FA4E5A4B-2131-5FEB-00C9-6A86A2C2E2A3}"/>
              </a:ext>
            </a:extLst>
          </p:cNvPr>
          <p:cNvGraphicFramePr>
            <a:graphicFrameLocks noGrp="1"/>
          </p:cNvGraphicFramePr>
          <p:nvPr>
            <p:ph idx="1"/>
          </p:nvPr>
        </p:nvGraphicFramePr>
        <p:xfrm>
          <a:off x="838200" y="2538254"/>
          <a:ext cx="10515600" cy="2926080"/>
        </p:xfrm>
        <a:graphic>
          <a:graphicData uri="http://schemas.openxmlformats.org/drawingml/2006/table">
            <a:tbl>
              <a:tblPr/>
              <a:tblGrid>
                <a:gridCol w="5257800">
                  <a:extLst>
                    <a:ext uri="{9D8B030D-6E8A-4147-A177-3AD203B41FA5}">
                      <a16:colId xmlns:a16="http://schemas.microsoft.com/office/drawing/2014/main" val="2899628067"/>
                    </a:ext>
                  </a:extLst>
                </a:gridCol>
                <a:gridCol w="5257800">
                  <a:extLst>
                    <a:ext uri="{9D8B030D-6E8A-4147-A177-3AD203B41FA5}">
                      <a16:colId xmlns:a16="http://schemas.microsoft.com/office/drawing/2014/main" val="2790473172"/>
                    </a:ext>
                  </a:extLst>
                </a:gridCol>
              </a:tblGrid>
              <a:tr h="0">
                <a:tc>
                  <a:txBody>
                    <a:bodyPr/>
                    <a:lstStyle/>
                    <a:p>
                      <a:pPr>
                        <a:buNone/>
                      </a:pPr>
                      <a:r>
                        <a:rPr lang="en-US"/>
                        <a:t>Item</a:t>
                      </a:r>
                    </a:p>
                  </a:txBody>
                  <a:tcPr anchor="ctr">
                    <a:lnL>
                      <a:noFill/>
                    </a:lnL>
                    <a:lnR>
                      <a:noFill/>
                    </a:lnR>
                    <a:lnT>
                      <a:noFill/>
                    </a:lnT>
                    <a:lnB>
                      <a:noFill/>
                    </a:lnB>
                    <a:noFill/>
                  </a:tcPr>
                </a:tc>
                <a:tc>
                  <a:txBody>
                    <a:bodyPr/>
                    <a:lstStyle/>
                    <a:p>
                      <a:pPr algn="r">
                        <a:buNone/>
                      </a:pPr>
                      <a:r>
                        <a:rPr lang="en-US"/>
                        <a:t>Value</a:t>
                      </a:r>
                    </a:p>
                  </a:txBody>
                  <a:tcPr anchor="ctr">
                    <a:lnL>
                      <a:noFill/>
                    </a:lnL>
                    <a:lnR>
                      <a:noFill/>
                    </a:lnR>
                    <a:lnT>
                      <a:noFill/>
                    </a:lnT>
                    <a:lnB>
                      <a:noFill/>
                    </a:lnB>
                    <a:noFill/>
                  </a:tcPr>
                </a:tc>
                <a:extLst>
                  <a:ext uri="{0D108BD9-81ED-4DB2-BD59-A6C34878D82A}">
                    <a16:rowId xmlns:a16="http://schemas.microsoft.com/office/drawing/2014/main" val="101028002"/>
                  </a:ext>
                </a:extLst>
              </a:tr>
              <a:tr h="0">
                <a:tc>
                  <a:txBody>
                    <a:bodyPr/>
                    <a:lstStyle/>
                    <a:p>
                      <a:pPr>
                        <a:buNone/>
                      </a:pPr>
                      <a:r>
                        <a:rPr lang="en-US"/>
                        <a:t>Source</a:t>
                      </a:r>
                    </a:p>
                  </a:txBody>
                  <a:tcPr anchor="ctr">
                    <a:lnL>
                      <a:noFill/>
                    </a:lnL>
                    <a:lnR>
                      <a:noFill/>
                    </a:lnR>
                    <a:lnT>
                      <a:noFill/>
                    </a:lnT>
                    <a:lnB>
                      <a:noFill/>
                    </a:lnB>
                    <a:noFill/>
                  </a:tcPr>
                </a:tc>
                <a:tc>
                  <a:txBody>
                    <a:bodyPr/>
                    <a:lstStyle/>
                    <a:p>
                      <a:pPr algn="r">
                        <a:buNone/>
                      </a:pPr>
                      <a:r>
                        <a:rPr lang="en-US"/>
                        <a:t>WFP Uganda Food Prices</a:t>
                      </a:r>
                    </a:p>
                  </a:txBody>
                  <a:tcPr anchor="ctr">
                    <a:lnL>
                      <a:noFill/>
                    </a:lnL>
                    <a:lnR>
                      <a:noFill/>
                    </a:lnR>
                    <a:lnT>
                      <a:noFill/>
                    </a:lnT>
                    <a:lnB>
                      <a:noFill/>
                    </a:lnB>
                    <a:noFill/>
                  </a:tcPr>
                </a:tc>
                <a:extLst>
                  <a:ext uri="{0D108BD9-81ED-4DB2-BD59-A6C34878D82A}">
                    <a16:rowId xmlns:a16="http://schemas.microsoft.com/office/drawing/2014/main" val="2142323154"/>
                  </a:ext>
                </a:extLst>
              </a:tr>
              <a:tr h="0">
                <a:tc>
                  <a:txBody>
                    <a:bodyPr/>
                    <a:lstStyle/>
                    <a:p>
                      <a:pPr>
                        <a:buNone/>
                      </a:pPr>
                      <a:r>
                        <a:rPr lang="en-US" dirty="0"/>
                        <a:t>Rows</a:t>
                      </a:r>
                    </a:p>
                  </a:txBody>
                  <a:tcPr anchor="ctr">
                    <a:lnL>
                      <a:noFill/>
                    </a:lnL>
                    <a:lnR>
                      <a:noFill/>
                    </a:lnR>
                    <a:lnT>
                      <a:noFill/>
                    </a:lnT>
                    <a:lnB>
                      <a:noFill/>
                    </a:lnB>
                    <a:noFill/>
                  </a:tcPr>
                </a:tc>
                <a:tc>
                  <a:txBody>
                    <a:bodyPr/>
                    <a:lstStyle/>
                    <a:p>
                      <a:pPr algn="r">
                        <a:buNone/>
                      </a:pPr>
                      <a:r>
                        <a:rPr lang="en-US"/>
                        <a:t>32,171</a:t>
                      </a:r>
                    </a:p>
                  </a:txBody>
                  <a:tcPr anchor="ctr">
                    <a:lnL>
                      <a:noFill/>
                    </a:lnL>
                    <a:lnR>
                      <a:noFill/>
                    </a:lnR>
                    <a:lnT>
                      <a:noFill/>
                    </a:lnT>
                    <a:lnB>
                      <a:noFill/>
                    </a:lnB>
                    <a:noFill/>
                  </a:tcPr>
                </a:tc>
                <a:extLst>
                  <a:ext uri="{0D108BD9-81ED-4DB2-BD59-A6C34878D82A}">
                    <a16:rowId xmlns:a16="http://schemas.microsoft.com/office/drawing/2014/main" val="2217298198"/>
                  </a:ext>
                </a:extLst>
              </a:tr>
              <a:tr h="0">
                <a:tc>
                  <a:txBody>
                    <a:bodyPr/>
                    <a:lstStyle/>
                    <a:p>
                      <a:pPr>
                        <a:buNone/>
                      </a:pPr>
                      <a:r>
                        <a:rPr lang="en-US"/>
                        <a:t>Columns</a:t>
                      </a:r>
                    </a:p>
                  </a:txBody>
                  <a:tcPr anchor="ctr">
                    <a:lnL>
                      <a:noFill/>
                    </a:lnL>
                    <a:lnR>
                      <a:noFill/>
                    </a:lnR>
                    <a:lnT>
                      <a:noFill/>
                    </a:lnT>
                    <a:lnB>
                      <a:noFill/>
                    </a:lnB>
                    <a:noFill/>
                  </a:tcPr>
                </a:tc>
                <a:tc>
                  <a:txBody>
                    <a:bodyPr/>
                    <a:lstStyle/>
                    <a:p>
                      <a:pPr algn="r">
                        <a:buNone/>
                      </a:pPr>
                      <a:r>
                        <a:rPr lang="en-US"/>
                        <a:t>16</a:t>
                      </a:r>
                    </a:p>
                  </a:txBody>
                  <a:tcPr anchor="ctr">
                    <a:lnL>
                      <a:noFill/>
                    </a:lnL>
                    <a:lnR>
                      <a:noFill/>
                    </a:lnR>
                    <a:lnT>
                      <a:noFill/>
                    </a:lnT>
                    <a:lnB>
                      <a:noFill/>
                    </a:lnB>
                    <a:noFill/>
                  </a:tcPr>
                </a:tc>
                <a:extLst>
                  <a:ext uri="{0D108BD9-81ED-4DB2-BD59-A6C34878D82A}">
                    <a16:rowId xmlns:a16="http://schemas.microsoft.com/office/drawing/2014/main" val="2789559817"/>
                  </a:ext>
                </a:extLst>
              </a:tr>
              <a:tr h="0">
                <a:tc>
                  <a:txBody>
                    <a:bodyPr/>
                    <a:lstStyle/>
                    <a:p>
                      <a:pPr>
                        <a:buNone/>
                      </a:pPr>
                      <a:r>
                        <a:rPr lang="en-US"/>
                        <a:t>Markets</a:t>
                      </a:r>
                    </a:p>
                  </a:txBody>
                  <a:tcPr anchor="ctr">
                    <a:lnL>
                      <a:noFill/>
                    </a:lnL>
                    <a:lnR>
                      <a:noFill/>
                    </a:lnR>
                    <a:lnT>
                      <a:noFill/>
                    </a:lnT>
                    <a:lnB>
                      <a:noFill/>
                    </a:lnB>
                    <a:noFill/>
                  </a:tcPr>
                </a:tc>
                <a:tc>
                  <a:txBody>
                    <a:bodyPr/>
                    <a:lstStyle/>
                    <a:p>
                      <a:pPr algn="r">
                        <a:buNone/>
                      </a:pPr>
                      <a:r>
                        <a:rPr lang="en-US"/>
                        <a:t>43</a:t>
                      </a:r>
                    </a:p>
                  </a:txBody>
                  <a:tcPr anchor="ctr">
                    <a:lnL>
                      <a:noFill/>
                    </a:lnL>
                    <a:lnR>
                      <a:noFill/>
                    </a:lnR>
                    <a:lnT>
                      <a:noFill/>
                    </a:lnT>
                    <a:lnB>
                      <a:noFill/>
                    </a:lnB>
                    <a:noFill/>
                  </a:tcPr>
                </a:tc>
                <a:extLst>
                  <a:ext uri="{0D108BD9-81ED-4DB2-BD59-A6C34878D82A}">
                    <a16:rowId xmlns:a16="http://schemas.microsoft.com/office/drawing/2014/main" val="2985903322"/>
                  </a:ext>
                </a:extLst>
              </a:tr>
              <a:tr h="0">
                <a:tc>
                  <a:txBody>
                    <a:bodyPr/>
                    <a:lstStyle/>
                    <a:p>
                      <a:pPr>
                        <a:buNone/>
                      </a:pPr>
                      <a:r>
                        <a:rPr lang="en-US" dirty="0"/>
                        <a:t>Commodities</a:t>
                      </a:r>
                    </a:p>
                  </a:txBody>
                  <a:tcPr anchor="ctr">
                    <a:lnL>
                      <a:noFill/>
                    </a:lnL>
                    <a:lnR>
                      <a:noFill/>
                    </a:lnR>
                    <a:lnT>
                      <a:noFill/>
                    </a:lnT>
                    <a:lnB>
                      <a:noFill/>
                    </a:lnB>
                    <a:noFill/>
                  </a:tcPr>
                </a:tc>
                <a:tc>
                  <a:txBody>
                    <a:bodyPr/>
                    <a:lstStyle/>
                    <a:p>
                      <a:pPr algn="r">
                        <a:buNone/>
                      </a:pPr>
                      <a:r>
                        <a:rPr lang="en-US"/>
                        <a:t>38</a:t>
                      </a:r>
                    </a:p>
                  </a:txBody>
                  <a:tcPr anchor="ctr">
                    <a:lnL>
                      <a:noFill/>
                    </a:lnL>
                    <a:lnR>
                      <a:noFill/>
                    </a:lnR>
                    <a:lnT>
                      <a:noFill/>
                    </a:lnT>
                    <a:lnB>
                      <a:noFill/>
                    </a:lnB>
                    <a:noFill/>
                  </a:tcPr>
                </a:tc>
                <a:extLst>
                  <a:ext uri="{0D108BD9-81ED-4DB2-BD59-A6C34878D82A}">
                    <a16:rowId xmlns:a16="http://schemas.microsoft.com/office/drawing/2014/main" val="3860145084"/>
                  </a:ext>
                </a:extLst>
              </a:tr>
              <a:tr h="0">
                <a:tc>
                  <a:txBody>
                    <a:bodyPr/>
                    <a:lstStyle/>
                    <a:p>
                      <a:pPr>
                        <a:buNone/>
                      </a:pPr>
                      <a:r>
                        <a:rPr lang="en-US"/>
                        <a:t>Period</a:t>
                      </a:r>
                    </a:p>
                  </a:txBody>
                  <a:tcPr anchor="ctr">
                    <a:lnL>
                      <a:noFill/>
                    </a:lnL>
                    <a:lnR>
                      <a:noFill/>
                    </a:lnR>
                    <a:lnT>
                      <a:noFill/>
                    </a:lnT>
                    <a:lnB>
                      <a:noFill/>
                    </a:lnB>
                    <a:noFill/>
                  </a:tcPr>
                </a:tc>
                <a:tc>
                  <a:txBody>
                    <a:bodyPr/>
                    <a:lstStyle/>
                    <a:p>
                      <a:pPr algn="r">
                        <a:buNone/>
                      </a:pPr>
                      <a:r>
                        <a:rPr lang="en-US" dirty="0"/>
                        <a:t>Jan 2006 – Jun 2026</a:t>
                      </a:r>
                    </a:p>
                  </a:txBody>
                  <a:tcPr anchor="ctr">
                    <a:lnL>
                      <a:noFill/>
                    </a:lnL>
                    <a:lnR>
                      <a:noFill/>
                    </a:lnR>
                    <a:lnT>
                      <a:noFill/>
                    </a:lnT>
                    <a:lnB>
                      <a:noFill/>
                    </a:lnB>
                    <a:noFill/>
                  </a:tcPr>
                </a:tc>
                <a:extLst>
                  <a:ext uri="{0D108BD9-81ED-4DB2-BD59-A6C34878D82A}">
                    <a16:rowId xmlns:a16="http://schemas.microsoft.com/office/drawing/2014/main" val="3187580945"/>
                  </a:ext>
                </a:extLst>
              </a:tr>
              <a:tr h="0">
                <a:tc>
                  <a:txBody>
                    <a:bodyPr/>
                    <a:lstStyle/>
                    <a:p>
                      <a:pPr>
                        <a:buNone/>
                      </a:pPr>
                      <a:r>
                        <a:rPr lang="en-US"/>
                        <a:t>Currency</a:t>
                      </a:r>
                    </a:p>
                  </a:txBody>
                  <a:tcPr anchor="ctr">
                    <a:lnL>
                      <a:noFill/>
                    </a:lnL>
                    <a:lnR>
                      <a:noFill/>
                    </a:lnR>
                    <a:lnT>
                      <a:noFill/>
                    </a:lnT>
                    <a:lnB>
                      <a:noFill/>
                    </a:lnB>
                    <a:noFill/>
                  </a:tcPr>
                </a:tc>
                <a:tc>
                  <a:txBody>
                    <a:bodyPr/>
                    <a:lstStyle/>
                    <a:p>
                      <a:pPr algn="r">
                        <a:buNone/>
                      </a:pPr>
                      <a:r>
                        <a:rPr lang="en-US" dirty="0"/>
                        <a:t>UGX</a:t>
                      </a:r>
                    </a:p>
                  </a:txBody>
                  <a:tcPr anchor="ctr">
                    <a:lnL>
                      <a:noFill/>
                    </a:lnL>
                    <a:lnR>
                      <a:noFill/>
                    </a:lnR>
                    <a:lnT>
                      <a:noFill/>
                    </a:lnT>
                    <a:lnB>
                      <a:noFill/>
                    </a:lnB>
                    <a:noFill/>
                  </a:tcPr>
                </a:tc>
                <a:extLst>
                  <a:ext uri="{0D108BD9-81ED-4DB2-BD59-A6C34878D82A}">
                    <a16:rowId xmlns:a16="http://schemas.microsoft.com/office/drawing/2014/main" val="446598747"/>
                  </a:ext>
                </a:extLst>
              </a:tr>
            </a:tbl>
          </a:graphicData>
        </a:graphic>
      </p:graphicFrame>
      <p:sp>
        <p:nvSpPr>
          <p:cNvPr id="5" name="TextBox 4">
            <a:extLst>
              <a:ext uri="{FF2B5EF4-FFF2-40B4-BE49-F238E27FC236}">
                <a16:creationId xmlns:a16="http://schemas.microsoft.com/office/drawing/2014/main" id="{FEAF4B81-50E0-CDD5-FB9E-CE81489D46B5}"/>
              </a:ext>
            </a:extLst>
          </p:cNvPr>
          <p:cNvSpPr txBox="1"/>
          <p:nvPr/>
        </p:nvSpPr>
        <p:spPr>
          <a:xfrm>
            <a:off x="924560" y="6065520"/>
            <a:ext cx="6952737" cy="369332"/>
          </a:xfrm>
          <a:prstGeom prst="rect">
            <a:avLst/>
          </a:prstGeom>
          <a:noFill/>
        </p:spPr>
        <p:txBody>
          <a:bodyPr wrap="none" rtlCol="0">
            <a:spAutoFit/>
          </a:bodyPr>
          <a:lstStyle/>
          <a:p>
            <a:r>
              <a:rPr lang="en-US" dirty="0"/>
              <a:t>After cleaning the data set I stayed with 20,872 rows and 21 columns</a:t>
            </a:r>
          </a:p>
        </p:txBody>
      </p:sp>
    </p:spTree>
    <p:extLst>
      <p:ext uri="{BB962C8B-B14F-4D97-AF65-F5344CB8AC3E}">
        <p14:creationId xmlns:p14="http://schemas.microsoft.com/office/powerpoint/2010/main" val="2887419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60530-F4F8-4EE9-7CB3-706709B61FB5}"/>
              </a:ext>
            </a:extLst>
          </p:cNvPr>
          <p:cNvSpPr>
            <a:spLocks noGrp="1"/>
          </p:cNvSpPr>
          <p:nvPr>
            <p:ph type="title"/>
          </p:nvPr>
        </p:nvSpPr>
        <p:spPr/>
        <p:txBody>
          <a:bodyPr/>
          <a:lstStyle/>
          <a:p>
            <a:r>
              <a:rPr lang="en-US" dirty="0"/>
              <a:t>Data Engineering Work Flow</a:t>
            </a:r>
          </a:p>
        </p:txBody>
      </p:sp>
      <p:sp>
        <p:nvSpPr>
          <p:cNvPr id="3" name="Content Placeholder 2">
            <a:extLst>
              <a:ext uri="{FF2B5EF4-FFF2-40B4-BE49-F238E27FC236}">
                <a16:creationId xmlns:a16="http://schemas.microsoft.com/office/drawing/2014/main" id="{DE06A952-824E-AC6E-CA0E-214511FA644F}"/>
              </a:ext>
            </a:extLst>
          </p:cNvPr>
          <p:cNvSpPr>
            <a:spLocks noGrp="1"/>
          </p:cNvSpPr>
          <p:nvPr>
            <p:ph idx="1"/>
          </p:nvPr>
        </p:nvSpPr>
        <p:spPr/>
        <p:txBody>
          <a:bodyPr>
            <a:normAutofit fontScale="40000" lnSpcReduction="20000"/>
          </a:bodyPr>
          <a:lstStyle/>
          <a:p>
            <a:r>
              <a:rPr lang="en-US" dirty="0"/>
              <a:t>Raw CSV</a:t>
            </a:r>
          </a:p>
          <a:p>
            <a:r>
              <a:rPr lang="en-US" dirty="0"/>
              <a:t>   ↓</a:t>
            </a:r>
          </a:p>
          <a:p>
            <a:r>
              <a:rPr lang="en-US" dirty="0"/>
              <a:t>Data Understanding</a:t>
            </a:r>
          </a:p>
          <a:p>
            <a:r>
              <a:rPr lang="en-US" dirty="0"/>
              <a:t>   ↓</a:t>
            </a:r>
          </a:p>
          <a:p>
            <a:r>
              <a:rPr lang="en-US" dirty="0"/>
              <a:t>Cleaning and Filtering</a:t>
            </a:r>
          </a:p>
          <a:p>
            <a:r>
              <a:rPr lang="en-US" dirty="0"/>
              <a:t>   ↓</a:t>
            </a:r>
          </a:p>
          <a:p>
            <a:r>
              <a:rPr lang="en-US" dirty="0"/>
              <a:t>Feature Engineering</a:t>
            </a:r>
          </a:p>
          <a:p>
            <a:r>
              <a:rPr lang="en-US" dirty="0"/>
              <a:t>   ↓</a:t>
            </a:r>
          </a:p>
          <a:p>
            <a:r>
              <a:rPr lang="en-US" dirty="0"/>
              <a:t>EDA and Visualization</a:t>
            </a:r>
          </a:p>
          <a:p>
            <a:r>
              <a:rPr lang="en-US" dirty="0"/>
              <a:t>   ↓</a:t>
            </a:r>
          </a:p>
          <a:p>
            <a:r>
              <a:rPr lang="en-US" dirty="0"/>
              <a:t>ML Preparation</a:t>
            </a:r>
          </a:p>
          <a:p>
            <a:r>
              <a:rPr lang="en-US" dirty="0"/>
              <a:t>   ↓</a:t>
            </a:r>
          </a:p>
          <a:p>
            <a:r>
              <a:rPr lang="en-US" dirty="0"/>
              <a:t>Model Training</a:t>
            </a:r>
          </a:p>
          <a:p>
            <a:r>
              <a:rPr lang="en-US" dirty="0"/>
              <a:t>   ↓</a:t>
            </a:r>
          </a:p>
          <a:p>
            <a:r>
              <a:rPr lang="en-US" dirty="0"/>
              <a:t>Evaluation</a:t>
            </a:r>
          </a:p>
          <a:p>
            <a:r>
              <a:rPr lang="en-US" dirty="0"/>
              <a:t>   ↓</a:t>
            </a:r>
          </a:p>
          <a:p>
            <a:r>
              <a:rPr lang="en-US" dirty="0"/>
              <a:t>Demo Interface</a:t>
            </a:r>
          </a:p>
        </p:txBody>
      </p:sp>
    </p:spTree>
    <p:extLst>
      <p:ext uri="{BB962C8B-B14F-4D97-AF65-F5344CB8AC3E}">
        <p14:creationId xmlns:p14="http://schemas.microsoft.com/office/powerpoint/2010/main" val="753077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3ED56-F55E-470C-D831-D6ED07043616}"/>
              </a:ext>
            </a:extLst>
          </p:cNvPr>
          <p:cNvSpPr>
            <a:spLocks noGrp="1"/>
          </p:cNvSpPr>
          <p:nvPr>
            <p:ph type="title"/>
          </p:nvPr>
        </p:nvSpPr>
        <p:spPr/>
        <p:txBody>
          <a:bodyPr/>
          <a:lstStyle/>
          <a:p>
            <a:r>
              <a:rPr lang="en-US" dirty="0"/>
              <a:t>Data Cleaning and Preparation</a:t>
            </a:r>
          </a:p>
        </p:txBody>
      </p:sp>
      <p:sp>
        <p:nvSpPr>
          <p:cNvPr id="4" name="Rectangle 1">
            <a:extLst>
              <a:ext uri="{FF2B5EF4-FFF2-40B4-BE49-F238E27FC236}">
                <a16:creationId xmlns:a16="http://schemas.microsoft.com/office/drawing/2014/main" id="{2E2AC9F2-A250-B75B-2F20-10AF54A50661}"/>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Converted date to datetime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Converted prices to numeric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Removed non-food items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Kept retail prices only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Created </a:t>
            </a:r>
            <a:r>
              <a:rPr kumimoji="0" lang="en-US" altLang="en-US" sz="1000" b="0" i="0" u="none" strike="noStrike" cap="none" normalizeH="0" baseline="0" dirty="0">
                <a:ln>
                  <a:noFill/>
                </a:ln>
                <a:solidFill>
                  <a:schemeClr val="tx1"/>
                </a:solidFill>
                <a:effectLst/>
                <a:latin typeface="Arial Unicode MS" panose="020B0604020202020204" pitchFamily="34" charset="-128"/>
              </a:rPr>
              <a:t>year</a:t>
            </a:r>
            <a:r>
              <a:rPr kumimoji="0" lang="en-US" altLang="en-US" sz="1000" b="0" i="0" u="none" strike="noStrike" cap="none" normalizeH="0" baseline="0" dirty="0">
                <a:ln>
                  <a:noFill/>
                </a:ln>
                <a:solidFill>
                  <a:schemeClr val="tx1"/>
                </a:solidFill>
                <a:effectLst/>
              </a:rPr>
              <a:t>, </a:t>
            </a:r>
            <a:r>
              <a:rPr kumimoji="0" lang="en-US" altLang="en-US" sz="1000" b="0" i="0" u="none" strike="noStrike" cap="none" normalizeH="0" baseline="0" dirty="0">
                <a:ln>
                  <a:noFill/>
                </a:ln>
                <a:solidFill>
                  <a:schemeClr val="tx1"/>
                </a:solidFill>
                <a:effectLst/>
                <a:latin typeface="Arial Unicode MS" panose="020B0604020202020204" pitchFamily="34" charset="-128"/>
              </a:rPr>
              <a:t>month</a:t>
            </a:r>
            <a:r>
              <a:rPr kumimoji="0" lang="en-US" altLang="en-US" sz="1000" b="0" i="0" u="none" strike="noStrike" cap="none" normalizeH="0" baseline="0" dirty="0">
                <a:ln>
                  <a:noFill/>
                </a:ln>
                <a:solidFill>
                  <a:schemeClr val="tx1"/>
                </a:solidFill>
                <a:effectLst/>
              </a:rPr>
              <a:t>, </a:t>
            </a:r>
            <a:r>
              <a:rPr kumimoji="0" lang="en-US" altLang="en-US" sz="1000" b="0" i="0" u="none" strike="noStrike" cap="none" normalizeH="0" baseline="0" dirty="0">
                <a:ln>
                  <a:noFill/>
                </a:ln>
                <a:solidFill>
                  <a:schemeClr val="tx1"/>
                </a:solidFill>
                <a:effectLst/>
                <a:latin typeface="Arial Unicode MS" panose="020B0604020202020204" pitchFamily="34" charset="-128"/>
              </a:rPr>
              <a:t>quarter</a:t>
            </a:r>
            <a:r>
              <a:rPr kumimoji="0" lang="en-US" altLang="en-US" sz="10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Created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previous_price</a:t>
            </a:r>
            <a:r>
              <a:rPr kumimoji="0" lang="en-US" altLang="en-US" sz="10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Created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price_change</a:t>
            </a:r>
            <a:r>
              <a:rPr kumimoji="0" lang="en-US" altLang="en-US" sz="10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Created </a:t>
            </a:r>
            <a:r>
              <a:rPr kumimoji="0" lang="en-US" altLang="en-US" sz="1000" b="0" i="0" u="none" strike="noStrike" cap="none" normalizeH="0" baseline="0" dirty="0">
                <a:ln>
                  <a:noFill/>
                </a:ln>
                <a:solidFill>
                  <a:schemeClr val="tx1"/>
                </a:solidFill>
                <a:effectLst/>
                <a:latin typeface="Arial Unicode MS" panose="020B0604020202020204" pitchFamily="34" charset="-128"/>
              </a:rPr>
              <a:t>price_3_month_avg</a:t>
            </a:r>
            <a:r>
              <a:rPr kumimoji="0" lang="en-US" altLang="en-US" sz="10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Created </a:t>
            </a:r>
            <a:r>
              <a:rPr kumimoji="0" lang="en-US" altLang="en-US" sz="1000" b="0" i="0" u="none" strike="noStrike" cap="none" normalizeH="0" baseline="0" dirty="0">
                <a:ln>
                  <a:noFill/>
                </a:ln>
                <a:solidFill>
                  <a:schemeClr val="tx1"/>
                </a:solidFill>
                <a:effectLst/>
                <a:latin typeface="Arial Unicode MS" panose="020B0604020202020204" pitchFamily="34" charset="-128"/>
              </a:rPr>
              <a:t>price_6_month_avg</a:t>
            </a:r>
            <a:r>
              <a:rPr kumimoji="0" lang="en-US" altLang="en-US" sz="10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Created target variable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next_month_price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34834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C37A1-84B5-5358-C248-BC8A4FB727EA}"/>
              </a:ext>
            </a:extLst>
          </p:cNvPr>
          <p:cNvSpPr>
            <a:spLocks noGrp="1"/>
          </p:cNvSpPr>
          <p:nvPr>
            <p:ph type="title"/>
          </p:nvPr>
        </p:nvSpPr>
        <p:spPr>
          <a:xfrm>
            <a:off x="838200" y="365125"/>
            <a:ext cx="10515600" cy="642155"/>
          </a:xfrm>
        </p:spPr>
        <p:txBody>
          <a:bodyPr>
            <a:normAutofit fontScale="90000"/>
          </a:bodyPr>
          <a:lstStyle/>
          <a:p>
            <a:r>
              <a:rPr lang="en-US" dirty="0"/>
              <a:t>Exploratory Data Analysis</a:t>
            </a:r>
          </a:p>
        </p:txBody>
      </p:sp>
      <p:pic>
        <p:nvPicPr>
          <p:cNvPr id="4" name="Content Placeholder 3">
            <a:extLst>
              <a:ext uri="{FF2B5EF4-FFF2-40B4-BE49-F238E27FC236}">
                <a16:creationId xmlns:a16="http://schemas.microsoft.com/office/drawing/2014/main" id="{F8BF1268-3E15-E594-73AC-C4D46EBA7625}"/>
              </a:ext>
            </a:extLst>
          </p:cNvPr>
          <p:cNvPicPr>
            <a:picLocks noGrp="1" noChangeAspect="1"/>
          </p:cNvPicPr>
          <p:nvPr>
            <p:ph idx="1"/>
          </p:nvPr>
        </p:nvPicPr>
        <p:blipFill>
          <a:blip r:embed="rId2"/>
          <a:stretch>
            <a:fillRect/>
          </a:stretch>
        </p:blipFill>
        <p:spPr>
          <a:xfrm>
            <a:off x="381153" y="1222872"/>
            <a:ext cx="5537047" cy="3638704"/>
          </a:xfrm>
          <a:prstGeom prst="rect">
            <a:avLst/>
          </a:prstGeom>
        </p:spPr>
      </p:pic>
      <p:pic>
        <p:nvPicPr>
          <p:cNvPr id="5" name="Picture 4">
            <a:extLst>
              <a:ext uri="{FF2B5EF4-FFF2-40B4-BE49-F238E27FC236}">
                <a16:creationId xmlns:a16="http://schemas.microsoft.com/office/drawing/2014/main" id="{04C805C7-1BBA-587C-8EB0-6DA59B1AB2A8}"/>
              </a:ext>
            </a:extLst>
          </p:cNvPr>
          <p:cNvPicPr>
            <a:picLocks noChangeAspect="1"/>
          </p:cNvPicPr>
          <p:nvPr/>
        </p:nvPicPr>
        <p:blipFill>
          <a:blip r:embed="rId3"/>
          <a:stretch>
            <a:fillRect/>
          </a:stretch>
        </p:blipFill>
        <p:spPr>
          <a:xfrm>
            <a:off x="5918200" y="1115076"/>
            <a:ext cx="6273800" cy="3638704"/>
          </a:xfrm>
          <a:prstGeom prst="rect">
            <a:avLst/>
          </a:prstGeom>
        </p:spPr>
      </p:pic>
    </p:spTree>
    <p:extLst>
      <p:ext uri="{BB962C8B-B14F-4D97-AF65-F5344CB8AC3E}">
        <p14:creationId xmlns:p14="http://schemas.microsoft.com/office/powerpoint/2010/main" val="3901178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94F287D-2CC4-A80A-54AB-35702FE0EECC}"/>
              </a:ext>
            </a:extLst>
          </p:cNvPr>
          <p:cNvPicPr>
            <a:picLocks noChangeAspect="1"/>
          </p:cNvPicPr>
          <p:nvPr/>
        </p:nvPicPr>
        <p:blipFill>
          <a:blip r:embed="rId2"/>
          <a:stretch>
            <a:fillRect/>
          </a:stretch>
        </p:blipFill>
        <p:spPr>
          <a:xfrm>
            <a:off x="367276" y="132203"/>
            <a:ext cx="9672227" cy="4795474"/>
          </a:xfrm>
          <a:prstGeom prst="rect">
            <a:avLst/>
          </a:prstGeom>
        </p:spPr>
      </p:pic>
      <p:sp>
        <p:nvSpPr>
          <p:cNvPr id="4" name="TextBox 3">
            <a:extLst>
              <a:ext uri="{FF2B5EF4-FFF2-40B4-BE49-F238E27FC236}">
                <a16:creationId xmlns:a16="http://schemas.microsoft.com/office/drawing/2014/main" id="{FC6E7656-21B3-3484-C45B-0DD7F7ECCA2F}"/>
              </a:ext>
            </a:extLst>
          </p:cNvPr>
          <p:cNvSpPr txBox="1"/>
          <p:nvPr/>
        </p:nvSpPr>
        <p:spPr>
          <a:xfrm>
            <a:off x="977747" y="5311962"/>
            <a:ext cx="9061756" cy="646331"/>
          </a:xfrm>
          <a:prstGeom prst="rect">
            <a:avLst/>
          </a:prstGeom>
          <a:noFill/>
        </p:spPr>
        <p:txBody>
          <a:bodyPr wrap="square">
            <a:spAutoFit/>
          </a:bodyPr>
          <a:lstStyle/>
          <a:p>
            <a:r>
              <a:rPr lang="en-US" dirty="0"/>
              <a:t>Exploratory Data Analysis showed that food prices vary by commodity, market, category, and time.</a:t>
            </a:r>
          </a:p>
        </p:txBody>
      </p:sp>
    </p:spTree>
    <p:extLst>
      <p:ext uri="{BB962C8B-B14F-4D97-AF65-F5344CB8AC3E}">
        <p14:creationId xmlns:p14="http://schemas.microsoft.com/office/powerpoint/2010/main" val="461062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4C1C7-D5D5-F819-AC15-E5146D577196}"/>
              </a:ext>
            </a:extLst>
          </p:cNvPr>
          <p:cNvSpPr>
            <a:spLocks noGrp="1"/>
          </p:cNvSpPr>
          <p:nvPr>
            <p:ph type="title"/>
          </p:nvPr>
        </p:nvSpPr>
        <p:spPr/>
        <p:txBody>
          <a:bodyPr/>
          <a:lstStyle/>
          <a:p>
            <a:r>
              <a:rPr lang="en-US" dirty="0"/>
              <a:t>Relationship with target</a:t>
            </a:r>
          </a:p>
        </p:txBody>
      </p:sp>
      <p:pic>
        <p:nvPicPr>
          <p:cNvPr id="5" name="Content Placeholder 4">
            <a:extLst>
              <a:ext uri="{FF2B5EF4-FFF2-40B4-BE49-F238E27FC236}">
                <a16:creationId xmlns:a16="http://schemas.microsoft.com/office/drawing/2014/main" id="{24D91E8B-FFA1-52A2-E2F0-239947EAA8CE}"/>
              </a:ext>
            </a:extLst>
          </p:cNvPr>
          <p:cNvPicPr>
            <a:picLocks noGrp="1" noChangeAspect="1"/>
          </p:cNvPicPr>
          <p:nvPr>
            <p:ph idx="1"/>
          </p:nvPr>
        </p:nvPicPr>
        <p:blipFill>
          <a:blip r:embed="rId2"/>
          <a:stretch>
            <a:fillRect/>
          </a:stretch>
        </p:blipFill>
        <p:spPr>
          <a:xfrm>
            <a:off x="1344057" y="1404009"/>
            <a:ext cx="8571123" cy="4071374"/>
          </a:xfrm>
          <a:prstGeom prst="rect">
            <a:avLst/>
          </a:prstGeom>
        </p:spPr>
      </p:pic>
      <p:sp>
        <p:nvSpPr>
          <p:cNvPr id="7" name="TextBox 6">
            <a:extLst>
              <a:ext uri="{FF2B5EF4-FFF2-40B4-BE49-F238E27FC236}">
                <a16:creationId xmlns:a16="http://schemas.microsoft.com/office/drawing/2014/main" id="{A6130D9A-5EB5-C29C-470D-16215B90B9CB}"/>
              </a:ext>
            </a:extLst>
          </p:cNvPr>
          <p:cNvSpPr txBox="1"/>
          <p:nvPr/>
        </p:nvSpPr>
        <p:spPr>
          <a:xfrm>
            <a:off x="735375" y="5475383"/>
            <a:ext cx="9818783" cy="923330"/>
          </a:xfrm>
          <a:prstGeom prst="rect">
            <a:avLst/>
          </a:prstGeom>
          <a:noFill/>
        </p:spPr>
        <p:txBody>
          <a:bodyPr wrap="square">
            <a:spAutoFit/>
          </a:bodyPr>
          <a:lstStyle/>
          <a:p>
            <a:r>
              <a:rPr lang="en-US" dirty="0"/>
              <a:t>The scatter plot showed a strong positive relationship between current price and next month price. This supports the use of regression because historical price values are useful predictors of future prices.</a:t>
            </a:r>
          </a:p>
        </p:txBody>
      </p:sp>
    </p:spTree>
    <p:extLst>
      <p:ext uri="{BB962C8B-B14F-4D97-AF65-F5344CB8AC3E}">
        <p14:creationId xmlns:p14="http://schemas.microsoft.com/office/powerpoint/2010/main" val="312530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3DAF4-E27C-1951-E4C7-F6B3DE0AC110}"/>
              </a:ext>
            </a:extLst>
          </p:cNvPr>
          <p:cNvSpPr>
            <a:spLocks noGrp="1"/>
          </p:cNvSpPr>
          <p:nvPr>
            <p:ph type="title"/>
          </p:nvPr>
        </p:nvSpPr>
        <p:spPr/>
        <p:txBody>
          <a:bodyPr/>
          <a:lstStyle/>
          <a:p>
            <a:r>
              <a:rPr lang="en-US" dirty="0"/>
              <a:t>Machine Learning Models</a:t>
            </a:r>
          </a:p>
        </p:txBody>
      </p:sp>
      <p:graphicFrame>
        <p:nvGraphicFramePr>
          <p:cNvPr id="4" name="Content Placeholder 3">
            <a:extLst>
              <a:ext uri="{FF2B5EF4-FFF2-40B4-BE49-F238E27FC236}">
                <a16:creationId xmlns:a16="http://schemas.microsoft.com/office/drawing/2014/main" id="{3C0C6070-58F9-603F-FFAB-B4981772D319}"/>
              </a:ext>
            </a:extLst>
          </p:cNvPr>
          <p:cNvGraphicFramePr>
            <a:graphicFrameLocks noGrp="1"/>
          </p:cNvGraphicFramePr>
          <p:nvPr>
            <p:ph idx="1"/>
          </p:nvPr>
        </p:nvGraphicFramePr>
        <p:xfrm>
          <a:off x="838200" y="3269774"/>
          <a:ext cx="10515600" cy="1463040"/>
        </p:xfrm>
        <a:graphic>
          <a:graphicData uri="http://schemas.openxmlformats.org/drawingml/2006/table">
            <a:tbl>
              <a:tblPr/>
              <a:tblGrid>
                <a:gridCol w="5257800">
                  <a:extLst>
                    <a:ext uri="{9D8B030D-6E8A-4147-A177-3AD203B41FA5}">
                      <a16:colId xmlns:a16="http://schemas.microsoft.com/office/drawing/2014/main" val="443428077"/>
                    </a:ext>
                  </a:extLst>
                </a:gridCol>
                <a:gridCol w="5257800">
                  <a:extLst>
                    <a:ext uri="{9D8B030D-6E8A-4147-A177-3AD203B41FA5}">
                      <a16:colId xmlns:a16="http://schemas.microsoft.com/office/drawing/2014/main" val="2654745024"/>
                    </a:ext>
                  </a:extLst>
                </a:gridCol>
              </a:tblGrid>
              <a:tr h="0">
                <a:tc>
                  <a:txBody>
                    <a:bodyPr/>
                    <a:lstStyle/>
                    <a:p>
                      <a:pPr>
                        <a:buNone/>
                      </a:pPr>
                      <a:r>
                        <a:rPr lang="en-US" dirty="0"/>
                        <a:t>Model</a:t>
                      </a:r>
                    </a:p>
                  </a:txBody>
                  <a:tcPr anchor="ctr">
                    <a:lnL>
                      <a:noFill/>
                    </a:lnL>
                    <a:lnR>
                      <a:noFill/>
                    </a:lnR>
                    <a:lnT>
                      <a:noFill/>
                    </a:lnT>
                    <a:lnB>
                      <a:noFill/>
                    </a:lnB>
                    <a:noFill/>
                  </a:tcPr>
                </a:tc>
                <a:tc>
                  <a:txBody>
                    <a:bodyPr/>
                    <a:lstStyle/>
                    <a:p>
                      <a:pPr>
                        <a:buNone/>
                      </a:pPr>
                      <a:r>
                        <a:rPr lang="en-US"/>
                        <a:t>Purpose</a:t>
                      </a:r>
                    </a:p>
                  </a:txBody>
                  <a:tcPr anchor="ctr">
                    <a:lnL>
                      <a:noFill/>
                    </a:lnL>
                    <a:lnR>
                      <a:noFill/>
                    </a:lnR>
                    <a:lnT>
                      <a:noFill/>
                    </a:lnT>
                    <a:lnB>
                      <a:noFill/>
                    </a:lnB>
                    <a:noFill/>
                  </a:tcPr>
                </a:tc>
                <a:extLst>
                  <a:ext uri="{0D108BD9-81ED-4DB2-BD59-A6C34878D82A}">
                    <a16:rowId xmlns:a16="http://schemas.microsoft.com/office/drawing/2014/main" val="1759527236"/>
                  </a:ext>
                </a:extLst>
              </a:tr>
              <a:tr h="0">
                <a:tc>
                  <a:txBody>
                    <a:bodyPr/>
                    <a:lstStyle/>
                    <a:p>
                      <a:pPr>
                        <a:buNone/>
                      </a:pPr>
                      <a:r>
                        <a:rPr lang="en-US"/>
                        <a:t>Baseline</a:t>
                      </a:r>
                    </a:p>
                  </a:txBody>
                  <a:tcPr anchor="ctr">
                    <a:lnL>
                      <a:noFill/>
                    </a:lnL>
                    <a:lnR>
                      <a:noFill/>
                    </a:lnR>
                    <a:lnT>
                      <a:noFill/>
                    </a:lnT>
                    <a:lnB>
                      <a:noFill/>
                    </a:lnB>
                    <a:noFill/>
                  </a:tcPr>
                </a:tc>
                <a:tc>
                  <a:txBody>
                    <a:bodyPr/>
                    <a:lstStyle/>
                    <a:p>
                      <a:pPr>
                        <a:buNone/>
                      </a:pPr>
                      <a:r>
                        <a:rPr lang="en-US"/>
                        <a:t>Assumes next month price equals current price</a:t>
                      </a:r>
                    </a:p>
                  </a:txBody>
                  <a:tcPr anchor="ctr">
                    <a:lnL>
                      <a:noFill/>
                    </a:lnL>
                    <a:lnR>
                      <a:noFill/>
                    </a:lnR>
                    <a:lnT>
                      <a:noFill/>
                    </a:lnT>
                    <a:lnB>
                      <a:noFill/>
                    </a:lnB>
                    <a:noFill/>
                  </a:tcPr>
                </a:tc>
                <a:extLst>
                  <a:ext uri="{0D108BD9-81ED-4DB2-BD59-A6C34878D82A}">
                    <a16:rowId xmlns:a16="http://schemas.microsoft.com/office/drawing/2014/main" val="3018397940"/>
                  </a:ext>
                </a:extLst>
              </a:tr>
              <a:tr h="0">
                <a:tc>
                  <a:txBody>
                    <a:bodyPr/>
                    <a:lstStyle/>
                    <a:p>
                      <a:pPr>
                        <a:buNone/>
                      </a:pPr>
                      <a:r>
                        <a:rPr lang="en-US"/>
                        <a:t>Random Forest Regressor</a:t>
                      </a:r>
                    </a:p>
                  </a:txBody>
                  <a:tcPr anchor="ctr">
                    <a:lnL>
                      <a:noFill/>
                    </a:lnL>
                    <a:lnR>
                      <a:noFill/>
                    </a:lnR>
                    <a:lnT>
                      <a:noFill/>
                    </a:lnT>
                    <a:lnB>
                      <a:noFill/>
                    </a:lnB>
                    <a:noFill/>
                  </a:tcPr>
                </a:tc>
                <a:tc>
                  <a:txBody>
                    <a:bodyPr/>
                    <a:lstStyle/>
                    <a:p>
                      <a:pPr>
                        <a:buNone/>
                      </a:pPr>
                      <a:r>
                        <a:rPr lang="en-US"/>
                        <a:t>Classical ML model</a:t>
                      </a:r>
                    </a:p>
                  </a:txBody>
                  <a:tcPr anchor="ctr">
                    <a:lnL>
                      <a:noFill/>
                    </a:lnL>
                    <a:lnR>
                      <a:noFill/>
                    </a:lnR>
                    <a:lnT>
                      <a:noFill/>
                    </a:lnT>
                    <a:lnB>
                      <a:noFill/>
                    </a:lnB>
                    <a:noFill/>
                  </a:tcPr>
                </a:tc>
                <a:extLst>
                  <a:ext uri="{0D108BD9-81ED-4DB2-BD59-A6C34878D82A}">
                    <a16:rowId xmlns:a16="http://schemas.microsoft.com/office/drawing/2014/main" val="1050757951"/>
                  </a:ext>
                </a:extLst>
              </a:tr>
              <a:tr h="0">
                <a:tc>
                  <a:txBody>
                    <a:bodyPr/>
                    <a:lstStyle/>
                    <a:p>
                      <a:pPr>
                        <a:buNone/>
                      </a:pPr>
                      <a:r>
                        <a:rPr lang="en-US"/>
                        <a:t>Neural Network</a:t>
                      </a:r>
                    </a:p>
                  </a:txBody>
                  <a:tcPr anchor="ctr">
                    <a:lnL>
                      <a:noFill/>
                    </a:lnL>
                    <a:lnR>
                      <a:noFill/>
                    </a:lnR>
                    <a:lnT>
                      <a:noFill/>
                    </a:lnT>
                    <a:lnB>
                      <a:noFill/>
                    </a:lnB>
                    <a:noFill/>
                  </a:tcPr>
                </a:tc>
                <a:tc>
                  <a:txBody>
                    <a:bodyPr/>
                    <a:lstStyle/>
                    <a:p>
                      <a:pPr>
                        <a:buNone/>
                      </a:pPr>
                      <a:r>
                        <a:rPr lang="en-US" dirty="0"/>
                        <a:t>Deep learning model</a:t>
                      </a:r>
                    </a:p>
                  </a:txBody>
                  <a:tcPr anchor="ctr">
                    <a:lnL>
                      <a:noFill/>
                    </a:lnL>
                    <a:lnR>
                      <a:noFill/>
                    </a:lnR>
                    <a:lnT>
                      <a:noFill/>
                    </a:lnT>
                    <a:lnB>
                      <a:noFill/>
                    </a:lnB>
                    <a:noFill/>
                  </a:tcPr>
                </a:tc>
                <a:extLst>
                  <a:ext uri="{0D108BD9-81ED-4DB2-BD59-A6C34878D82A}">
                    <a16:rowId xmlns:a16="http://schemas.microsoft.com/office/drawing/2014/main" val="409111688"/>
                  </a:ext>
                </a:extLst>
              </a:tr>
            </a:tbl>
          </a:graphicData>
        </a:graphic>
      </p:graphicFrame>
    </p:spTree>
    <p:extLst>
      <p:ext uri="{BB962C8B-B14F-4D97-AF65-F5344CB8AC3E}">
        <p14:creationId xmlns:p14="http://schemas.microsoft.com/office/powerpoint/2010/main" val="3250829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C2DEF-B12C-CA46-753A-C2513C630733}"/>
              </a:ext>
            </a:extLst>
          </p:cNvPr>
          <p:cNvSpPr>
            <a:spLocks noGrp="1"/>
          </p:cNvSpPr>
          <p:nvPr>
            <p:ph type="title"/>
          </p:nvPr>
        </p:nvSpPr>
        <p:spPr/>
        <p:txBody>
          <a:bodyPr/>
          <a:lstStyle/>
          <a:p>
            <a:r>
              <a:rPr lang="en-US" dirty="0"/>
              <a:t>Model Evaluation</a:t>
            </a:r>
          </a:p>
        </p:txBody>
      </p:sp>
      <p:graphicFrame>
        <p:nvGraphicFramePr>
          <p:cNvPr id="4" name="Content Placeholder 3">
            <a:extLst>
              <a:ext uri="{FF2B5EF4-FFF2-40B4-BE49-F238E27FC236}">
                <a16:creationId xmlns:a16="http://schemas.microsoft.com/office/drawing/2014/main" id="{93BFF409-DC0D-567F-14EE-17C7D8304A5E}"/>
              </a:ext>
            </a:extLst>
          </p:cNvPr>
          <p:cNvGraphicFramePr>
            <a:graphicFrameLocks noGrp="1"/>
          </p:cNvGraphicFramePr>
          <p:nvPr>
            <p:ph idx="1"/>
          </p:nvPr>
        </p:nvGraphicFramePr>
        <p:xfrm>
          <a:off x="838200" y="3269774"/>
          <a:ext cx="10515600" cy="1463040"/>
        </p:xfrm>
        <a:graphic>
          <a:graphicData uri="http://schemas.openxmlformats.org/drawingml/2006/table">
            <a:tbl>
              <a:tblPr/>
              <a:tblGrid>
                <a:gridCol w="2628900">
                  <a:extLst>
                    <a:ext uri="{9D8B030D-6E8A-4147-A177-3AD203B41FA5}">
                      <a16:colId xmlns:a16="http://schemas.microsoft.com/office/drawing/2014/main" val="232678328"/>
                    </a:ext>
                  </a:extLst>
                </a:gridCol>
                <a:gridCol w="2628900">
                  <a:extLst>
                    <a:ext uri="{9D8B030D-6E8A-4147-A177-3AD203B41FA5}">
                      <a16:colId xmlns:a16="http://schemas.microsoft.com/office/drawing/2014/main" val="3046841184"/>
                    </a:ext>
                  </a:extLst>
                </a:gridCol>
                <a:gridCol w="2628900">
                  <a:extLst>
                    <a:ext uri="{9D8B030D-6E8A-4147-A177-3AD203B41FA5}">
                      <a16:colId xmlns:a16="http://schemas.microsoft.com/office/drawing/2014/main" val="2230217851"/>
                    </a:ext>
                  </a:extLst>
                </a:gridCol>
                <a:gridCol w="2628900">
                  <a:extLst>
                    <a:ext uri="{9D8B030D-6E8A-4147-A177-3AD203B41FA5}">
                      <a16:colId xmlns:a16="http://schemas.microsoft.com/office/drawing/2014/main" val="185554053"/>
                    </a:ext>
                  </a:extLst>
                </a:gridCol>
              </a:tblGrid>
              <a:tr h="0">
                <a:tc>
                  <a:txBody>
                    <a:bodyPr/>
                    <a:lstStyle/>
                    <a:p>
                      <a:pPr>
                        <a:buNone/>
                      </a:pPr>
                      <a:r>
                        <a:rPr lang="en-US"/>
                        <a:t>Model</a:t>
                      </a:r>
                    </a:p>
                  </a:txBody>
                  <a:tcPr anchor="ctr">
                    <a:lnL>
                      <a:noFill/>
                    </a:lnL>
                    <a:lnR>
                      <a:noFill/>
                    </a:lnR>
                    <a:lnT>
                      <a:noFill/>
                    </a:lnT>
                    <a:lnB>
                      <a:noFill/>
                    </a:lnB>
                    <a:noFill/>
                  </a:tcPr>
                </a:tc>
                <a:tc>
                  <a:txBody>
                    <a:bodyPr/>
                    <a:lstStyle/>
                    <a:p>
                      <a:pPr algn="r">
                        <a:buNone/>
                      </a:pPr>
                      <a:r>
                        <a:rPr lang="en-US"/>
                        <a:t>MAE</a:t>
                      </a:r>
                    </a:p>
                  </a:txBody>
                  <a:tcPr anchor="ctr">
                    <a:lnL>
                      <a:noFill/>
                    </a:lnL>
                    <a:lnR>
                      <a:noFill/>
                    </a:lnR>
                    <a:lnT>
                      <a:noFill/>
                    </a:lnT>
                    <a:lnB>
                      <a:noFill/>
                    </a:lnB>
                    <a:noFill/>
                  </a:tcPr>
                </a:tc>
                <a:tc>
                  <a:txBody>
                    <a:bodyPr/>
                    <a:lstStyle/>
                    <a:p>
                      <a:pPr algn="r">
                        <a:buNone/>
                      </a:pPr>
                      <a:r>
                        <a:rPr lang="en-US"/>
                        <a:t>RMSE</a:t>
                      </a:r>
                    </a:p>
                  </a:txBody>
                  <a:tcPr anchor="ctr">
                    <a:lnL>
                      <a:noFill/>
                    </a:lnL>
                    <a:lnR>
                      <a:noFill/>
                    </a:lnR>
                    <a:lnT>
                      <a:noFill/>
                    </a:lnT>
                    <a:lnB>
                      <a:noFill/>
                    </a:lnB>
                    <a:noFill/>
                  </a:tcPr>
                </a:tc>
                <a:tc>
                  <a:txBody>
                    <a:bodyPr/>
                    <a:lstStyle/>
                    <a:p>
                      <a:pPr algn="r">
                        <a:buNone/>
                      </a:pPr>
                      <a:r>
                        <a:rPr lang="en-US"/>
                        <a:t>R²</a:t>
                      </a:r>
                    </a:p>
                  </a:txBody>
                  <a:tcPr anchor="ctr">
                    <a:lnL>
                      <a:noFill/>
                    </a:lnL>
                    <a:lnR>
                      <a:noFill/>
                    </a:lnR>
                    <a:lnT>
                      <a:noFill/>
                    </a:lnT>
                    <a:lnB>
                      <a:noFill/>
                    </a:lnB>
                    <a:noFill/>
                  </a:tcPr>
                </a:tc>
                <a:extLst>
                  <a:ext uri="{0D108BD9-81ED-4DB2-BD59-A6C34878D82A}">
                    <a16:rowId xmlns:a16="http://schemas.microsoft.com/office/drawing/2014/main" val="3430770963"/>
                  </a:ext>
                </a:extLst>
              </a:tr>
              <a:tr h="0">
                <a:tc>
                  <a:txBody>
                    <a:bodyPr/>
                    <a:lstStyle/>
                    <a:p>
                      <a:pPr>
                        <a:buNone/>
                      </a:pPr>
                      <a:r>
                        <a:rPr lang="en-US"/>
                        <a:t>Baseline</a:t>
                      </a:r>
                    </a:p>
                  </a:txBody>
                  <a:tcPr anchor="ctr">
                    <a:lnL>
                      <a:noFill/>
                    </a:lnL>
                    <a:lnR>
                      <a:noFill/>
                    </a:lnR>
                    <a:lnT>
                      <a:noFill/>
                    </a:lnT>
                    <a:lnB>
                      <a:noFill/>
                    </a:lnB>
                    <a:noFill/>
                  </a:tcPr>
                </a:tc>
                <a:tc>
                  <a:txBody>
                    <a:bodyPr/>
                    <a:lstStyle/>
                    <a:p>
                      <a:pPr algn="r">
                        <a:buNone/>
                      </a:pPr>
                      <a:r>
                        <a:rPr lang="en-US"/>
                        <a:t>557.70</a:t>
                      </a:r>
                    </a:p>
                  </a:txBody>
                  <a:tcPr anchor="ctr">
                    <a:lnL>
                      <a:noFill/>
                    </a:lnL>
                    <a:lnR>
                      <a:noFill/>
                    </a:lnR>
                    <a:lnT>
                      <a:noFill/>
                    </a:lnT>
                    <a:lnB>
                      <a:noFill/>
                    </a:lnB>
                    <a:noFill/>
                  </a:tcPr>
                </a:tc>
                <a:tc>
                  <a:txBody>
                    <a:bodyPr/>
                    <a:lstStyle/>
                    <a:p>
                      <a:pPr algn="r">
                        <a:buNone/>
                      </a:pPr>
                      <a:r>
                        <a:rPr lang="en-US"/>
                        <a:t>1975.42</a:t>
                      </a:r>
                    </a:p>
                  </a:txBody>
                  <a:tcPr anchor="ctr">
                    <a:lnL>
                      <a:noFill/>
                    </a:lnL>
                    <a:lnR>
                      <a:noFill/>
                    </a:lnR>
                    <a:lnT>
                      <a:noFill/>
                    </a:lnT>
                    <a:lnB>
                      <a:noFill/>
                    </a:lnB>
                    <a:noFill/>
                  </a:tcPr>
                </a:tc>
                <a:tc>
                  <a:txBody>
                    <a:bodyPr/>
                    <a:lstStyle/>
                    <a:p>
                      <a:pPr algn="r">
                        <a:buNone/>
                      </a:pPr>
                      <a:r>
                        <a:rPr lang="en-US"/>
                        <a:t>0.8586</a:t>
                      </a:r>
                    </a:p>
                  </a:txBody>
                  <a:tcPr anchor="ctr">
                    <a:lnL>
                      <a:noFill/>
                    </a:lnL>
                    <a:lnR>
                      <a:noFill/>
                    </a:lnR>
                    <a:lnT>
                      <a:noFill/>
                    </a:lnT>
                    <a:lnB>
                      <a:noFill/>
                    </a:lnB>
                    <a:noFill/>
                  </a:tcPr>
                </a:tc>
                <a:extLst>
                  <a:ext uri="{0D108BD9-81ED-4DB2-BD59-A6C34878D82A}">
                    <a16:rowId xmlns:a16="http://schemas.microsoft.com/office/drawing/2014/main" val="4007578014"/>
                  </a:ext>
                </a:extLst>
              </a:tr>
              <a:tr h="0">
                <a:tc>
                  <a:txBody>
                    <a:bodyPr/>
                    <a:lstStyle/>
                    <a:p>
                      <a:pPr>
                        <a:buNone/>
                      </a:pPr>
                      <a:r>
                        <a:rPr lang="en-US"/>
                        <a:t>Random Forest</a:t>
                      </a:r>
                    </a:p>
                  </a:txBody>
                  <a:tcPr anchor="ctr">
                    <a:lnL>
                      <a:noFill/>
                    </a:lnL>
                    <a:lnR>
                      <a:noFill/>
                    </a:lnR>
                    <a:lnT>
                      <a:noFill/>
                    </a:lnT>
                    <a:lnB>
                      <a:noFill/>
                    </a:lnB>
                    <a:noFill/>
                  </a:tcPr>
                </a:tc>
                <a:tc>
                  <a:txBody>
                    <a:bodyPr/>
                    <a:lstStyle/>
                    <a:p>
                      <a:pPr algn="r">
                        <a:buNone/>
                      </a:pPr>
                      <a:r>
                        <a:rPr lang="en-US"/>
                        <a:t>533.20</a:t>
                      </a:r>
                    </a:p>
                  </a:txBody>
                  <a:tcPr anchor="ctr">
                    <a:lnL>
                      <a:noFill/>
                    </a:lnL>
                    <a:lnR>
                      <a:noFill/>
                    </a:lnR>
                    <a:lnT>
                      <a:noFill/>
                    </a:lnT>
                    <a:lnB>
                      <a:noFill/>
                    </a:lnB>
                    <a:noFill/>
                  </a:tcPr>
                </a:tc>
                <a:tc>
                  <a:txBody>
                    <a:bodyPr/>
                    <a:lstStyle/>
                    <a:p>
                      <a:pPr algn="r">
                        <a:buNone/>
                      </a:pPr>
                      <a:r>
                        <a:rPr lang="en-US"/>
                        <a:t>1697.70</a:t>
                      </a:r>
                    </a:p>
                  </a:txBody>
                  <a:tcPr anchor="ctr">
                    <a:lnL>
                      <a:noFill/>
                    </a:lnL>
                    <a:lnR>
                      <a:noFill/>
                    </a:lnR>
                    <a:lnT>
                      <a:noFill/>
                    </a:lnT>
                    <a:lnB>
                      <a:noFill/>
                    </a:lnB>
                    <a:noFill/>
                  </a:tcPr>
                </a:tc>
                <a:tc>
                  <a:txBody>
                    <a:bodyPr/>
                    <a:lstStyle/>
                    <a:p>
                      <a:pPr algn="r">
                        <a:buNone/>
                      </a:pPr>
                      <a:r>
                        <a:rPr lang="en-US"/>
                        <a:t>0.8955</a:t>
                      </a:r>
                    </a:p>
                  </a:txBody>
                  <a:tcPr anchor="ctr">
                    <a:lnL>
                      <a:noFill/>
                    </a:lnL>
                    <a:lnR>
                      <a:noFill/>
                    </a:lnR>
                    <a:lnT>
                      <a:noFill/>
                    </a:lnT>
                    <a:lnB>
                      <a:noFill/>
                    </a:lnB>
                    <a:noFill/>
                  </a:tcPr>
                </a:tc>
                <a:extLst>
                  <a:ext uri="{0D108BD9-81ED-4DB2-BD59-A6C34878D82A}">
                    <a16:rowId xmlns:a16="http://schemas.microsoft.com/office/drawing/2014/main" val="447430593"/>
                  </a:ext>
                </a:extLst>
              </a:tr>
              <a:tr h="0">
                <a:tc>
                  <a:txBody>
                    <a:bodyPr/>
                    <a:lstStyle/>
                    <a:p>
                      <a:pPr>
                        <a:buNone/>
                      </a:pPr>
                      <a:r>
                        <a:rPr lang="en-US"/>
                        <a:t>Neural Network</a:t>
                      </a:r>
                    </a:p>
                  </a:txBody>
                  <a:tcPr anchor="ctr">
                    <a:lnL>
                      <a:noFill/>
                    </a:lnL>
                    <a:lnR>
                      <a:noFill/>
                    </a:lnR>
                    <a:lnT>
                      <a:noFill/>
                    </a:lnT>
                    <a:lnB>
                      <a:noFill/>
                    </a:lnB>
                    <a:noFill/>
                  </a:tcPr>
                </a:tc>
                <a:tc>
                  <a:txBody>
                    <a:bodyPr/>
                    <a:lstStyle/>
                    <a:p>
                      <a:pPr algn="r">
                        <a:buNone/>
                      </a:pPr>
                      <a:r>
                        <a:rPr lang="en-US"/>
                        <a:t>691.14</a:t>
                      </a:r>
                    </a:p>
                  </a:txBody>
                  <a:tcPr anchor="ctr">
                    <a:lnL>
                      <a:noFill/>
                    </a:lnL>
                    <a:lnR>
                      <a:noFill/>
                    </a:lnR>
                    <a:lnT>
                      <a:noFill/>
                    </a:lnT>
                    <a:lnB>
                      <a:noFill/>
                    </a:lnB>
                    <a:noFill/>
                  </a:tcPr>
                </a:tc>
                <a:tc>
                  <a:txBody>
                    <a:bodyPr/>
                    <a:lstStyle/>
                    <a:p>
                      <a:pPr algn="r">
                        <a:buNone/>
                      </a:pPr>
                      <a:r>
                        <a:rPr lang="en-US"/>
                        <a:t>1760.43</a:t>
                      </a:r>
                    </a:p>
                  </a:txBody>
                  <a:tcPr anchor="ctr">
                    <a:lnL>
                      <a:noFill/>
                    </a:lnL>
                    <a:lnR>
                      <a:noFill/>
                    </a:lnR>
                    <a:lnT>
                      <a:noFill/>
                    </a:lnT>
                    <a:lnB>
                      <a:noFill/>
                    </a:lnB>
                    <a:noFill/>
                  </a:tcPr>
                </a:tc>
                <a:tc>
                  <a:txBody>
                    <a:bodyPr/>
                    <a:lstStyle/>
                    <a:p>
                      <a:pPr algn="r">
                        <a:buNone/>
                      </a:pPr>
                      <a:r>
                        <a:rPr lang="en-US" dirty="0"/>
                        <a:t>0.8877</a:t>
                      </a:r>
                    </a:p>
                  </a:txBody>
                  <a:tcPr anchor="ctr">
                    <a:lnL>
                      <a:noFill/>
                    </a:lnL>
                    <a:lnR>
                      <a:noFill/>
                    </a:lnR>
                    <a:lnT>
                      <a:noFill/>
                    </a:lnT>
                    <a:lnB>
                      <a:noFill/>
                    </a:lnB>
                    <a:noFill/>
                  </a:tcPr>
                </a:tc>
                <a:extLst>
                  <a:ext uri="{0D108BD9-81ED-4DB2-BD59-A6C34878D82A}">
                    <a16:rowId xmlns:a16="http://schemas.microsoft.com/office/drawing/2014/main" val="2773780245"/>
                  </a:ext>
                </a:extLst>
              </a:tr>
            </a:tbl>
          </a:graphicData>
        </a:graphic>
      </p:graphicFrame>
      <p:sp>
        <p:nvSpPr>
          <p:cNvPr id="6" name="TextBox 5">
            <a:extLst>
              <a:ext uri="{FF2B5EF4-FFF2-40B4-BE49-F238E27FC236}">
                <a16:creationId xmlns:a16="http://schemas.microsoft.com/office/drawing/2014/main" id="{83D7482E-5E32-B379-DAAB-A70776EB4229}"/>
              </a:ext>
            </a:extLst>
          </p:cNvPr>
          <p:cNvSpPr txBox="1"/>
          <p:nvPr/>
        </p:nvSpPr>
        <p:spPr>
          <a:xfrm>
            <a:off x="746392" y="5488233"/>
            <a:ext cx="10424711" cy="646331"/>
          </a:xfrm>
          <a:prstGeom prst="rect">
            <a:avLst/>
          </a:prstGeom>
          <a:noFill/>
        </p:spPr>
        <p:txBody>
          <a:bodyPr wrap="square">
            <a:spAutoFit/>
          </a:bodyPr>
          <a:lstStyle/>
          <a:p>
            <a:r>
              <a:rPr lang="en-US" dirty="0"/>
              <a:t>The Random Forest model performed best because it had the lowest MAE, lowest RMSE, and highest R² score.</a:t>
            </a:r>
          </a:p>
        </p:txBody>
      </p:sp>
    </p:spTree>
    <p:extLst>
      <p:ext uri="{BB962C8B-B14F-4D97-AF65-F5344CB8AC3E}">
        <p14:creationId xmlns:p14="http://schemas.microsoft.com/office/powerpoint/2010/main" val="1709217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379A2-BC1E-37B9-495A-CDE0C0E3D94A}"/>
              </a:ext>
            </a:extLst>
          </p:cNvPr>
          <p:cNvSpPr>
            <a:spLocks noGrp="1"/>
          </p:cNvSpPr>
          <p:nvPr>
            <p:ph type="title"/>
          </p:nvPr>
        </p:nvSpPr>
        <p:spPr/>
        <p:txBody>
          <a:bodyPr/>
          <a:lstStyle/>
          <a:p>
            <a:r>
              <a:rPr lang="en-US" dirty="0"/>
              <a:t>Demo Interface</a:t>
            </a:r>
          </a:p>
        </p:txBody>
      </p:sp>
      <p:pic>
        <p:nvPicPr>
          <p:cNvPr id="4" name="Content Placeholder 3">
            <a:extLst>
              <a:ext uri="{FF2B5EF4-FFF2-40B4-BE49-F238E27FC236}">
                <a16:creationId xmlns:a16="http://schemas.microsoft.com/office/drawing/2014/main" id="{6CB98A6D-8665-EF2D-1F67-A28B71EA1F8A}"/>
              </a:ext>
            </a:extLst>
          </p:cNvPr>
          <p:cNvPicPr>
            <a:picLocks noGrp="1" noChangeAspect="1"/>
          </p:cNvPicPr>
          <p:nvPr>
            <p:ph idx="1"/>
          </p:nvPr>
        </p:nvPicPr>
        <p:blipFill>
          <a:blip r:embed="rId2"/>
          <a:stretch>
            <a:fillRect/>
          </a:stretch>
        </p:blipFill>
        <p:spPr>
          <a:xfrm>
            <a:off x="1395903" y="1351900"/>
            <a:ext cx="8849350" cy="4351338"/>
          </a:xfrm>
          <a:prstGeom prst="rect">
            <a:avLst/>
          </a:prstGeom>
        </p:spPr>
      </p:pic>
      <p:sp>
        <p:nvSpPr>
          <p:cNvPr id="6" name="TextBox 5">
            <a:extLst>
              <a:ext uri="{FF2B5EF4-FFF2-40B4-BE49-F238E27FC236}">
                <a16:creationId xmlns:a16="http://schemas.microsoft.com/office/drawing/2014/main" id="{DA9763E6-6349-57CD-4F2D-C1D84C4F95B3}"/>
              </a:ext>
            </a:extLst>
          </p:cNvPr>
          <p:cNvSpPr txBox="1"/>
          <p:nvPr/>
        </p:nvSpPr>
        <p:spPr>
          <a:xfrm>
            <a:off x="1395902" y="5934670"/>
            <a:ext cx="9422661" cy="646331"/>
          </a:xfrm>
          <a:prstGeom prst="rect">
            <a:avLst/>
          </a:prstGeom>
          <a:noFill/>
        </p:spPr>
        <p:txBody>
          <a:bodyPr wrap="square">
            <a:spAutoFit/>
          </a:bodyPr>
          <a:lstStyle/>
          <a:p>
            <a:r>
              <a:rPr lang="en-US" dirty="0"/>
              <a:t>The demo allows a user to select a commodity and market, enter price values, and predict the next month retail food price.</a:t>
            </a:r>
          </a:p>
        </p:txBody>
      </p:sp>
    </p:spTree>
    <p:extLst>
      <p:ext uri="{BB962C8B-B14F-4D97-AF65-F5344CB8AC3E}">
        <p14:creationId xmlns:p14="http://schemas.microsoft.com/office/powerpoint/2010/main" val="882674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7FB5DC-4DDC-265C-FE76-FA07D0944902}"/>
              </a:ext>
            </a:extLst>
          </p:cNvPr>
          <p:cNvSpPr txBox="1"/>
          <p:nvPr/>
        </p:nvSpPr>
        <p:spPr>
          <a:xfrm>
            <a:off x="594911" y="1244906"/>
            <a:ext cx="10906699" cy="923330"/>
          </a:xfrm>
          <a:prstGeom prst="rect">
            <a:avLst/>
          </a:prstGeom>
          <a:noFill/>
        </p:spPr>
        <p:txBody>
          <a:bodyPr wrap="square">
            <a:spAutoFit/>
          </a:bodyPr>
          <a:lstStyle/>
          <a:p>
            <a:r>
              <a:rPr lang="en-US" b="1" dirty="0"/>
              <a:t>Limitations: </a:t>
            </a:r>
            <a:r>
              <a:rPr lang="en-US" dirty="0"/>
              <a:t>The model does not include external factors such as rainfall, fuel prices, exchange rates, inflation, transport costs, harvest seasons, conflict, or supply disruptions. These factors may affect food prices and could improve future model performance.</a:t>
            </a:r>
          </a:p>
        </p:txBody>
      </p:sp>
      <p:sp>
        <p:nvSpPr>
          <p:cNvPr id="5" name="TextBox 4">
            <a:extLst>
              <a:ext uri="{FF2B5EF4-FFF2-40B4-BE49-F238E27FC236}">
                <a16:creationId xmlns:a16="http://schemas.microsoft.com/office/drawing/2014/main" id="{0D7447BB-85F7-E96A-1E68-30AC79F9085E}"/>
              </a:ext>
            </a:extLst>
          </p:cNvPr>
          <p:cNvSpPr txBox="1"/>
          <p:nvPr/>
        </p:nvSpPr>
        <p:spPr>
          <a:xfrm>
            <a:off x="594910" y="2740301"/>
            <a:ext cx="10653311" cy="1754326"/>
          </a:xfrm>
          <a:prstGeom prst="rect">
            <a:avLst/>
          </a:prstGeom>
          <a:noFill/>
        </p:spPr>
        <p:txBody>
          <a:bodyPr wrap="square">
            <a:spAutoFit/>
          </a:bodyPr>
          <a:lstStyle/>
          <a:p>
            <a:r>
              <a:rPr lang="en-US" b="1" dirty="0"/>
              <a:t>Conclusion: </a:t>
            </a:r>
            <a:r>
              <a:rPr lang="en-US" dirty="0"/>
              <a:t>This project successfully built an end-to-end machine learning pipeline for predicting retail food prices in Uganda.</a:t>
            </a:r>
          </a:p>
          <a:p>
            <a:endParaRPr lang="en-US" dirty="0"/>
          </a:p>
          <a:p>
            <a:r>
              <a:rPr lang="en-US" dirty="0"/>
              <a:t>The Random Forest model was selected as the final model, achieving an R² score of 0.8955. The project demonstrates data cleaning, feature engineering, visualization, classical machine learning, neural network modelling, evaluation, GitHub documentation, and a working demo interface.</a:t>
            </a:r>
          </a:p>
        </p:txBody>
      </p:sp>
    </p:spTree>
    <p:extLst>
      <p:ext uri="{BB962C8B-B14F-4D97-AF65-F5344CB8AC3E}">
        <p14:creationId xmlns:p14="http://schemas.microsoft.com/office/powerpoint/2010/main" val="19630900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66AAC-46AB-0F6E-9A1E-481D8CFE180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ECA88C7-46A0-0F90-5B56-E462925DF2A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744852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485</Words>
  <Application>Microsoft Macintosh PowerPoint</Application>
  <PresentationFormat>Widescreen</PresentationFormat>
  <Paragraphs>93</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 Unicode MS</vt:lpstr>
      <vt:lpstr>Aptos</vt:lpstr>
      <vt:lpstr>Aptos Display</vt:lpstr>
      <vt:lpstr>Arial</vt:lpstr>
      <vt:lpstr>Office Theme</vt:lpstr>
      <vt:lpstr>Predicting Retail Food Prices in Ugandan Markets Using WFP Market Price Data</vt:lpstr>
      <vt:lpstr>Problem Statement</vt:lpstr>
      <vt:lpstr>Data Description</vt:lpstr>
      <vt:lpstr>Data Engineering Work Flow</vt:lpstr>
      <vt:lpstr>Data Cleaning and Preparation</vt:lpstr>
      <vt:lpstr>Exploratory Data Analysis</vt:lpstr>
      <vt:lpstr>PowerPoint Presentation</vt:lpstr>
      <vt:lpstr>Relationship with target</vt:lpstr>
      <vt:lpstr>Machine Learning Models</vt:lpstr>
      <vt:lpstr>Model Evaluation</vt:lpstr>
      <vt:lpstr>Demo Interface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Flo</dc:creator>
  <cp:lastModifiedBy>Flo</cp:lastModifiedBy>
  <cp:revision>22</cp:revision>
  <dcterms:created xsi:type="dcterms:W3CDTF">2026-08-08T08:51:30Z</dcterms:created>
  <dcterms:modified xsi:type="dcterms:W3CDTF">2026-08-08T09:33:15Z</dcterms:modified>
</cp:coreProperties>
</file>